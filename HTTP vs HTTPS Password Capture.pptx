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Default Extension="fntdata" ContentType="application/x-fontdata"/>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embeddedFontLst>
    <p:embeddedFont>
      <p:font typeface="DM Sans" pitchFamily="34" charset="0"/>
      <p:regular r:id="rId17"/>
      <p:bold r:id="rId18"/>
    </p:embeddedFont>
    <p:embeddedFont>
      <p:font typeface="JetBrains Mono" panose="02000009000000000000" pitchFamily="49" charset="0"/>
      <p:regular r:id="rId19"/>
      <p:bold r:id="rId20"/>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Vanakkam. Ennoda internship project: HTTP-la password eppadi plaintext-a capture aagum, HTTPS eppadi atha protect pannum nu Wireshark vechu demo pannen. Astonish InfoTech, Trichy-la one month cybersecurity internship.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apps (banking, healthcare) handle sensitive data. HTTP-la ellame plaintext, HTTPS-la TLS encryption irukku. Intha internship-oda 4 main objectives: protocol basics, hands-on lab, capture and compare, server secure panradhu. Ellame local lab-la mattum, real data illa.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Astonish InfoTech Trichy-la irukkura software and web solutions company. School ERP, billing, hospital management maathiri products irukku. Cyber security-la SSL implementation and secure coding-um pannuvanga. Avanga follow panra 4-stage process: Discuss, Design, Develop, Deploy.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days-la step by step padichen. Munnaadi basics, apram networking and Linux, then ethical hacking tools (Nmap, Wireshark), web app security (OWASP, SQL injection, XSS, Burp Suite). Last 2 days testing and report. Athula Wireshark and HTTP/HTTPS knowledge thaan intha project-ku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Oru Apache server-la ore login app, 2 modes: HTTP (port 80) and HTTPS (port 443). Wireshark loopback interface-la ellaa packets-um paakkum. HTTP-la request readable text-a theriyum. HTTPS-la TLS layer encrypt pannidum, so Wireshark-ku cipher-text mattum theriyum. Tools: Kali Linux, XAMPP, Wireshark, mod_ssl.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Existing system: pala apps innum HTTP-la login form vachirukkaanga. Namma Wireshark-la password-ai direct-a paakkalaam, encryption break panna thevai illa. Banking-ku idhu RBI guidelines and IT Act 2000 violation-um. Proposed system: same login app-ai first HTTP-la test, apram HTTPS enable panni compare pannen. Limitation: self-signed certificate so browser warning varum.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steps. 1) XAMPP start panni login page htdocs-la podanum. 2) HTTP-la login submit panni Wireshark-la POST packet-ai paakkanum, username/password plaintext-a theriyum. 3) httpd-ssl.conf find panni backup eduthu, grep-la ssl_module check, httpd -t-la Syntax OK paathutu restart. 4) ss -ltnp-la port 443 listening-a nu paathu, curl -kI-la 200 OK confirm. Apram HTTPS-la Wireshark-la TLS 1.3 handshake and encrypted data mattum theriyum.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Ithu main result. Same login, same lab. HTTP-la username password plaintext-a theriyudhu, risk high. HTTPS-la TLS 1.3 handshake and encrypted application data mattum, risk low. Self-signed certificate nala browser "Not Secure" warning kaatum, adhu expected. TLS content-ai hide pannum, aana communication nadakkudhu nu hide pannaadhu.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Challenges-la naan face pannadhu: config file path theriyala (find use panni), ssl_module load aagiducha nu theriyala (grep use panni), browser warning (self-signed so normal), Wireshark-la correct interface (Loopback lo). Learning: packet-level-la HTTP vs HTTPS, mod_ssl configuration, Wireshark, and safe admin practice: backup, validate, restart.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HTTP credentials-ai plaintext-a expose pannum, HTTPS TLS 1.3 vechu protect pannum. Ellame Wireshark evidence-oda prove pannen. Future work: HSTS, trusted CA certificate (Let's Encrypt), MITM simulation lab-la, password hashing and brute-force protection, pyshark automation. Mudinjadhu. Thank you, questions irundha kelunga.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Slide-background-1-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Slide-background-2-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0E172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0" y="812760"/>
            <a:ext cx="10566481" cy="467301"/>
          </a:xfrm>
          <a:prstGeom prst="rect">
            <a:avLst/>
          </a:prstGeom>
          <a:noFill/>
          <a:ln/>
        </p:spPr>
        <p:txBody>
          <a:bodyPr wrap="square" lIns="0" tIns="0" rIns="0" bIns="0" rtlCol="0" anchor="t"/>
          <a:lstStyle>
            <a:lvl1pPr algn="l" indent="0" marL="0">
              <a:lnSpc>
                <a:spcPct val="115000"/>
              </a:lnSpc>
              <a:buNone/>
              <a:defRPr lang="en-US" sz="3200" dirty="0">
                <a:solidFill>
                  <a:srgbClr val="F3F5F7"/>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60" y="1584861"/>
            <a:ext cx="10566440" cy="4460339"/>
          </a:xfrm>
          <a:prstGeom prst="rect">
            <a:avLst/>
          </a:prstGeom>
          <a:noFill/>
          <a:ln/>
        </p:spPr>
        <p:txBody>
          <a:bodyPr wrap="square" lIns="0" tIns="0" rIns="0" bIns="0" rtlCol="0" anchor="t"/>
          <a:lstStyle>
            <a:lvl1pPr algn="l" indent="0" marL="0">
              <a:lnSpc>
                <a:spcPct val="140000"/>
              </a:lnSpc>
              <a:buNone/>
              <a:defRPr lang="en-US" sz="1600" dirty="0">
                <a:solidFill>
                  <a:srgbClr val="F3F5F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background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760" y="812760"/>
            <a:ext cx="10566481" cy="467301"/>
          </a:xfrm>
          <a:prstGeom prst="rect">
            <a:avLst/>
          </a:prstGeom>
          <a:noFill/>
          <a:ln/>
        </p:spPr>
        <p:txBody>
          <a:bodyPr wrap="square" lIns="0" tIns="0" rIns="0" bIns="0" rtlCol="0" anchor="t"/>
          <a:lstStyle>
            <a:lvl1pPr algn="l" indent="0" marL="0">
              <a:lnSpc>
                <a:spcPct val="115000"/>
              </a:lnSpc>
              <a:buNone/>
              <a:defRPr lang="en-US" sz="3200" dirty="0">
                <a:solidFill>
                  <a:srgbClr val="F3F5F7"/>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60" y="1584861"/>
            <a:ext cx="10566440" cy="4460339"/>
          </a:xfrm>
          <a:prstGeom prst="rect">
            <a:avLst/>
          </a:prstGeom>
          <a:noFill/>
          <a:ln/>
        </p:spPr>
        <p:txBody>
          <a:bodyPr wrap="square" lIns="0" tIns="0" rIns="0" bIns="0" rtlCol="0" anchor="t"/>
          <a:lstStyle>
            <a:lvl1pPr algn="l" indent="0" marL="0">
              <a:lnSpc>
                <a:spcPct val="140000"/>
              </a:lnSpc>
              <a:buNone/>
              <a:defRPr lang="en-US" sz="1600" dirty="0">
                <a:solidFill>
                  <a:srgbClr val="F3F5F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background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p:nvPr>
            <p:ph type="title"/>
          </p:nvPr>
        </p:nvSpPr>
        <p:spPr>
          <a:xfrm>
            <a:off x="812760" y="812760"/>
            <a:ext cx="10566481" cy="467301"/>
          </a:xfrm>
          <a:prstGeom prst="rect">
            <a:avLst/>
          </a:prstGeom>
          <a:noFill/>
          <a:ln/>
        </p:spPr>
        <p:txBody>
          <a:bodyPr wrap="square" lIns="0" tIns="0" rIns="0" bIns="0" rtlCol="0" anchor="t"/>
          <a:lstStyle>
            <a:lvl1pPr algn="l" indent="0" marL="0">
              <a:lnSpc>
                <a:spcPct val="115000"/>
              </a:lnSpc>
              <a:buNone/>
              <a:defRPr lang="en-US" sz="3200" dirty="0">
                <a:solidFill>
                  <a:srgbClr val="F3F5F7"/>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60" y="1584861"/>
            <a:ext cx="10566440" cy="4460339"/>
          </a:xfrm>
          <a:prstGeom prst="rect">
            <a:avLst/>
          </a:prstGeom>
          <a:noFill/>
          <a:ln/>
        </p:spPr>
        <p:txBody>
          <a:bodyPr wrap="square" lIns="0" tIns="0" rIns="0" bIns="0" rtlCol="0" anchor="t"/>
          <a:lstStyle>
            <a:lvl1pPr algn="l" indent="0" marL="0">
              <a:lnSpc>
                <a:spcPct val="140000"/>
              </a:lnSpc>
              <a:buNone/>
              <a:defRPr lang="en-US" sz="1600" dirty="0">
                <a:solidFill>
                  <a:srgbClr val="F3F5F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E1726"/>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60" y="812760"/>
            <a:ext cx="10566481" cy="467301"/>
          </a:xfrm>
          <a:prstGeom prst="rect">
            <a:avLst/>
          </a:prstGeom>
          <a:noFill/>
          <a:ln/>
        </p:spPr>
        <p:txBody>
          <a:bodyPr wrap="square" lIns="0" tIns="0" rIns="0" bIns="0" rtlCol="0" anchor="t"/>
          <a:lstStyle>
            <a:lvl1pPr algn="l" indent="0" marL="0">
              <a:lnSpc>
                <a:spcPct val="115000"/>
              </a:lnSpc>
              <a:buNone/>
              <a:defRPr lang="en-US" sz="3200" dirty="0">
                <a:solidFill>
                  <a:srgbClr val="F3F5F7"/>
                </a:solidFill>
                <a:latin typeface="DM Sans" pitchFamily="34" charset="0"/>
                <a:ea typeface="DM Sans" pitchFamily="34" charset="-122"/>
                <a:cs typeface="DM Sans" pitchFamily="34" charset="-120"/>
              </a:defRPr>
            </a:lvl1pPr>
          </a:lstStyle>
          <a:p>
            <a:pPr algn="l" indent="0" marL="0">
              <a:lnSpc>
                <a:spcPct val="115000"/>
              </a:lnSpc>
              <a:buNone/>
            </a:pPr>
            <a:endParaRPr lang="en-US" sz="3200" dirty="0"/>
          </a:p>
        </p:txBody>
      </p:sp>
      <p:sp>
        <p:nvSpPr>
          <p:cNvPr id="3" name="Text Placeholder 2"/>
          <p:cNvSpPr/>
          <p:nvPr>
            <p:ph idx="101" type="body"/>
          </p:nvPr>
        </p:nvSpPr>
        <p:spPr>
          <a:xfrm>
            <a:off x="812760" y="1584861"/>
            <a:ext cx="10566440" cy="4460339"/>
          </a:xfrm>
          <a:prstGeom prst="rect">
            <a:avLst/>
          </a:prstGeom>
          <a:noFill/>
          <a:ln/>
        </p:spPr>
        <p:txBody>
          <a:bodyPr wrap="square" lIns="0" tIns="0" rIns="0" bIns="0" rtlCol="0" anchor="t"/>
          <a:lstStyle>
            <a:lvl1pPr algn="l" indent="0" marL="0">
              <a:lnSpc>
                <a:spcPct val="140000"/>
              </a:lnSpc>
              <a:buNone/>
              <a:defRPr lang="en-US" sz="1600" dirty="0">
                <a:solidFill>
                  <a:srgbClr val="F3F5F7"/>
                </a:solidFill>
                <a:latin typeface="DM Sans" pitchFamily="34" charset="0"/>
                <a:ea typeface="DM Sans" pitchFamily="34" charset="-122"/>
                <a:cs typeface="DM Sans"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2.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Lock">    </p:cNvPr>
          <p:cNvPicPr>
            <a:picLocks noChangeAspect="1"/>
          </p:cNvPicPr>
          <p:nvPr/>
        </p:nvPicPr>
        <p:blipFill>
          <a:blip r:embed="rId1"/>
          <a:srcRect l="0" r="0" t="0" b="0"/>
          <a:stretch/>
        </p:blipFill>
        <p:spPr>
          <a:xfrm>
            <a:off x="8890000" y="1651000"/>
            <a:ext cx="2286000" cy="2286000"/>
          </a:xfrm>
          <a:prstGeom prst="rect">
            <a:avLst/>
          </a:prstGeom>
        </p:spPr>
      </p:pic>
      <p:sp>
        <p:nvSpPr>
          <p:cNvPr id="3" name="Text 0"/>
          <p:cNvSpPr/>
          <p:nvPr/>
        </p:nvSpPr>
        <p:spPr>
          <a:xfrm>
            <a:off x="812760" y="812760"/>
            <a:ext cx="10883476" cy="274294"/>
          </a:xfrm>
          <a:prstGeom prst="rect">
            <a:avLst/>
          </a:prstGeom>
          <a:noFill/>
          <a:ln/>
        </p:spPr>
        <p:txBody>
          <a:bodyPr wrap="square" lIns="0" tIns="0" rIns="0" bIns="0" rtlCol="0" anchor="t">
            <a:normAutofit/>
          </a:bodyPr>
          <a:lstStyle/>
          <a:p>
            <a:pPr algn="l" indent="0" marL="0">
              <a:lnSpc>
                <a:spcPts val="1960"/>
              </a:lnSpc>
              <a:buNone/>
            </a:pPr>
            <a:r>
              <a:rPr lang="en-US" sz="1400" b="1" spc="200" kern="0" dirty="0">
                <a:solidFill>
                  <a:srgbClr val="2DD4BF"/>
                </a:solidFill>
                <a:latin typeface="DM Sans" pitchFamily="34" charset="0"/>
                <a:ea typeface="DM Sans" pitchFamily="34" charset="-122"/>
                <a:cs typeface="DM Sans" pitchFamily="34" charset="-120"/>
              </a:rPr>
              <a:t>CYBER SECURITY INTERNSHIP REPORT</a:t>
            </a:r>
            <a:endParaRPr lang="en-US" sz="1400" dirty="0"/>
          </a:p>
        </p:txBody>
      </p:sp>
      <p:sp>
        <p:nvSpPr>
          <p:cNvPr id="4" name="Text 1"/>
          <p:cNvSpPr/>
          <p:nvPr>
            <p:ph type="title"/>
          </p:nvPr>
        </p:nvSpPr>
        <p:spPr>
          <a:xfrm>
            <a:off x="812760" y="2160314"/>
            <a:ext cx="7848600" cy="1254752"/>
          </a:xfrm>
          <a:prstGeom prst="rect">
            <a:avLst/>
          </a:prstGeom>
          <a:noFill/>
          <a:ln/>
        </p:spPr>
        <p:txBody>
          <a:bodyPr wrap="square" lIns="0" tIns="0" rIns="0" bIns="0" rtlCol="0" anchor="t">
            <a:normAutofit/>
          </a:bodyPr>
          <a:lstStyle/>
          <a:p>
            <a:pPr algn="l" indent="0" marL="0">
              <a:lnSpc>
                <a:spcPts val="4840"/>
              </a:lnSpc>
              <a:buNone/>
            </a:pPr>
            <a:r>
              <a:rPr lang="en-US" sz="4400" b="1" i="0" dirty="0">
                <a:solidFill>
                  <a:srgbClr val="F3F5F7"/>
                </a:solidFill>
                <a:latin typeface="DM Sans" pitchFamily="34" charset="0"/>
                <a:ea typeface="DM Sans" pitchFamily="34" charset="-122"/>
                <a:cs typeface="DM Sans" pitchFamily="34" charset="-120"/>
              </a:rPr>
              <a:t>HTTP vs HTTPS Password Capture using Wireshark</a:t>
            </a:r>
            <a:endParaRPr lang="en-US" sz="4400" dirty="0"/>
          </a:p>
        </p:txBody>
      </p:sp>
      <p:sp>
        <p:nvSpPr>
          <p:cNvPr id="5" name="Text 2"/>
          <p:cNvSpPr/>
          <p:nvPr/>
        </p:nvSpPr>
        <p:spPr>
          <a:xfrm>
            <a:off x="812760" y="3567426"/>
            <a:ext cx="7194550" cy="665456"/>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A9B8CC"/>
                </a:solidFill>
                <a:latin typeface="DM Sans" pitchFamily="34" charset="0"/>
                <a:ea typeface="DM Sans" pitchFamily="34" charset="-122"/>
                <a:cs typeface="DM Sans" pitchFamily="34" charset="-120"/>
              </a:rPr>
              <a:t>A hands-on lab on the SecureBank Demo login page: plaintext credentials over HTTP, encrypted traffic over HTTPS.</a:t>
            </a:r>
            <a:endParaRPr lang="en-US" sz="1800" dirty="0"/>
          </a:p>
        </p:txBody>
      </p:sp>
      <p:sp>
        <p:nvSpPr>
          <p:cNvPr id="6" name="Shape 3"/>
          <p:cNvSpPr/>
          <p:nvPr/>
        </p:nvSpPr>
        <p:spPr>
          <a:xfrm>
            <a:off x="825460" y="5306092"/>
            <a:ext cx="0" cy="535908"/>
          </a:xfrm>
          <a:prstGeom prst="line">
            <a:avLst/>
          </a:prstGeom>
          <a:noFill/>
          <a:ln w="25400">
            <a:solidFill>
              <a:srgbClr val="2DD4BF"/>
            </a:solidFill>
            <a:prstDash val="solid"/>
          </a:ln>
        </p:spPr>
      </p:sp>
      <p:sp>
        <p:nvSpPr>
          <p:cNvPr id="7" name="Text 4"/>
          <p:cNvSpPr/>
          <p:nvPr/>
        </p:nvSpPr>
        <p:spPr>
          <a:xfrm>
            <a:off x="987789" y="5306092"/>
            <a:ext cx="2382388" cy="29209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3F5F7"/>
                </a:solidFill>
                <a:latin typeface="DM Sans" pitchFamily="34" charset="0"/>
                <a:ea typeface="DM Sans" pitchFamily="34" charset="-122"/>
                <a:cs typeface="DM Sans" pitchFamily="34" charset="-120"/>
              </a:rPr>
              <a:t>Elavarasan</a:t>
            </a:r>
            <a:endParaRPr lang="en-US" sz="1500" dirty="0"/>
          </a:p>
        </p:txBody>
      </p:sp>
      <p:sp>
        <p:nvSpPr>
          <p:cNvPr id="8" name="Text 5"/>
          <p:cNvSpPr/>
          <p:nvPr/>
        </p:nvSpPr>
        <p:spPr>
          <a:xfrm>
            <a:off x="987789" y="5610852"/>
            <a:ext cx="2382388" cy="25654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B8CC"/>
                </a:solidFill>
                <a:latin typeface="DM Sans" pitchFamily="34" charset="0"/>
                <a:ea typeface="DM Sans" pitchFamily="34" charset="-122"/>
                <a:cs typeface="DM Sans" pitchFamily="34" charset="-120"/>
              </a:rPr>
              <a:t>B.Tech Information Technology</a:t>
            </a:r>
            <a:endParaRPr lang="en-US" sz="1300" dirty="0"/>
          </a:p>
        </p:txBody>
      </p:sp>
      <p:sp>
        <p:nvSpPr>
          <p:cNvPr id="9" name="Shape 6"/>
          <p:cNvSpPr/>
          <p:nvPr/>
        </p:nvSpPr>
        <p:spPr>
          <a:xfrm>
            <a:off x="3923056" y="5306092"/>
            <a:ext cx="0" cy="535908"/>
          </a:xfrm>
          <a:prstGeom prst="line">
            <a:avLst/>
          </a:prstGeom>
          <a:noFill/>
          <a:ln w="25400">
            <a:solidFill>
              <a:srgbClr val="F5B84B"/>
            </a:solidFill>
            <a:prstDash val="solid"/>
          </a:ln>
        </p:spPr>
      </p:sp>
      <p:sp>
        <p:nvSpPr>
          <p:cNvPr id="10" name="Text 7"/>
          <p:cNvSpPr/>
          <p:nvPr/>
        </p:nvSpPr>
        <p:spPr>
          <a:xfrm>
            <a:off x="4085386" y="5306092"/>
            <a:ext cx="2936455" cy="29209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3F5F7"/>
                </a:solidFill>
                <a:latin typeface="DM Sans" pitchFamily="34" charset="0"/>
                <a:ea typeface="DM Sans" pitchFamily="34" charset="-122"/>
                <a:cs typeface="DM Sans" pitchFamily="34" charset="-120"/>
              </a:rPr>
              <a:t>Astonish InfoTech, Trichy</a:t>
            </a:r>
            <a:endParaRPr lang="en-US" sz="1500" dirty="0"/>
          </a:p>
        </p:txBody>
      </p:sp>
      <p:sp>
        <p:nvSpPr>
          <p:cNvPr id="11" name="Text 8"/>
          <p:cNvSpPr/>
          <p:nvPr/>
        </p:nvSpPr>
        <p:spPr>
          <a:xfrm>
            <a:off x="4085386" y="5610852"/>
            <a:ext cx="2936455" cy="25654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B8CC"/>
                </a:solidFill>
                <a:latin typeface="DM Sans" pitchFamily="34" charset="0"/>
                <a:ea typeface="DM Sans" pitchFamily="34" charset="-122"/>
                <a:cs typeface="DM Sans" pitchFamily="34" charset="-120"/>
              </a:rPr>
              <a:t>One-month Cybersecurity internship</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5F7"/>
        </a:solidFill>
      </p:bgPr>
    </p:bg>
    <p:spTree>
      <p:nvGrpSpPr>
        <p:cNvPr id="1" name=""/>
        <p:cNvGrpSpPr/>
        <p:nvPr/>
      </p:nvGrpSpPr>
      <p:grpSpPr>
        <a:xfrm>
          <a:off x="0" y="0"/>
          <a:ext cx="0" cy="0"/>
          <a:chOff x="0" y="0"/>
          <a:chExt cx="0" cy="0"/>
        </a:xfrm>
      </p:grpSpPr>
      <p:sp>
        <p:nvSpPr>
          <p:cNvPr id="2" name="Text 0"/>
          <p:cNvSpPr/>
          <p:nvPr>
            <p:ph type="title"/>
          </p:nvPr>
        </p:nvSpPr>
        <p:spPr>
          <a:xfrm>
            <a:off x="812760" y="812760"/>
            <a:ext cx="10883476" cy="49270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E1726"/>
                </a:solidFill>
                <a:latin typeface="DM Sans" pitchFamily="34" charset="0"/>
                <a:ea typeface="DM Sans" pitchFamily="34" charset="-122"/>
                <a:cs typeface="DM Sans" pitchFamily="34" charset="-120"/>
              </a:rPr>
              <a:t>Introduction and Objectives</a:t>
            </a:r>
            <a:endParaRPr lang="en-US" sz="3200" dirty="0"/>
          </a:p>
        </p:txBody>
      </p:sp>
      <p:sp>
        <p:nvSpPr>
          <p:cNvPr id="3" name="Text 1"/>
          <p:cNvSpPr/>
          <p:nvPr/>
        </p:nvSpPr>
        <p:spPr>
          <a:xfrm>
            <a:off x="812760" y="1534061"/>
            <a:ext cx="4185920" cy="1234327"/>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0E1726"/>
                </a:solidFill>
                <a:latin typeface="DM Sans" pitchFamily="34" charset="0"/>
                <a:ea typeface="DM Sans" pitchFamily="34" charset="-122"/>
                <a:cs typeface="DM Sans" pitchFamily="34" charset="-120"/>
              </a:rPr>
              <a:t>HTTP sends every byte, including usernames and passwords, as plaintext. HTTPS wraps the same traffic inside TLS encryption.</a:t>
            </a:r>
            <a:endParaRPr lang="en-US" sz="1700" dirty="0"/>
          </a:p>
        </p:txBody>
      </p:sp>
      <p:sp>
        <p:nvSpPr>
          <p:cNvPr id="4" name="Text 2"/>
          <p:cNvSpPr/>
          <p:nvPr/>
        </p:nvSpPr>
        <p:spPr>
          <a:xfrm>
            <a:off x="812760" y="2920747"/>
            <a:ext cx="4064000" cy="716296"/>
          </a:xfrm>
          <a:prstGeom prst="roundRect">
            <a:avLst>
              <a:gd name="adj" fmla="val 10638"/>
            </a:avLst>
          </a:prstGeom>
          <a:solidFill>
            <a:srgbClr val="DDF3EF"/>
          </a:solidFill>
          <a:ln/>
        </p:spPr>
        <p:txBody>
          <a:bodyPr wrap="square" lIns="130082" tIns="104682" rIns="17306" bIns="79282" rtlCol="0" anchor="t">
            <a:normAutofit/>
          </a:bodyPr>
          <a:lstStyle/>
          <a:p>
            <a:pPr algn="l" indent="0" marL="0">
              <a:lnSpc>
                <a:spcPts val="1820"/>
              </a:lnSpc>
              <a:buNone/>
            </a:pPr>
            <a:r>
              <a:rPr lang="en-US" sz="1300" b="1" dirty="0">
                <a:solidFill>
                  <a:srgbClr val="0F766E"/>
                </a:solidFill>
                <a:latin typeface="DM Sans" pitchFamily="34" charset="0"/>
                <a:ea typeface="DM Sans" pitchFamily="34" charset="-122"/>
                <a:cs typeface="DM Sans" pitchFamily="34" charset="-120"/>
              </a:rPr>
              <a:t>Lab only: Kali Linux, loopback interface, no real user data.</a:t>
            </a:r>
            <a:endParaRPr lang="en-US" sz="1300" dirty="0"/>
          </a:p>
        </p:txBody>
      </p:sp>
      <p:sp>
        <p:nvSpPr>
          <p:cNvPr id="5" name="Shape 3"/>
          <p:cNvSpPr/>
          <p:nvPr/>
        </p:nvSpPr>
        <p:spPr>
          <a:xfrm>
            <a:off x="5184694" y="1537236"/>
            <a:ext cx="2990891" cy="1478266"/>
          </a:xfrm>
          <a:prstGeom prst="roundRect">
            <a:avLst>
              <a:gd name="adj" fmla="val 6658"/>
            </a:avLst>
          </a:prstGeom>
          <a:solidFill>
            <a:srgbClr val="FFFFFF"/>
          </a:solidFill>
          <a:ln w="6350">
            <a:solidFill>
              <a:srgbClr val="DDE3EA"/>
            </a:solidFill>
            <a:prstDash val="solid"/>
          </a:ln>
        </p:spPr>
      </p:sp>
      <p:sp>
        <p:nvSpPr>
          <p:cNvPr id="6" name="Text 4"/>
          <p:cNvSpPr/>
          <p:nvPr/>
        </p:nvSpPr>
        <p:spPr>
          <a:xfrm>
            <a:off x="5387945" y="1740487"/>
            <a:ext cx="2661921" cy="23870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9"/>
                </a:solidFill>
                <a:latin typeface="DM Sans" pitchFamily="34" charset="0"/>
                <a:ea typeface="DM Sans" pitchFamily="34" charset="-122"/>
                <a:cs typeface="DM Sans" pitchFamily="34" charset="-120"/>
              </a:rPr>
              <a:t>01</a:t>
            </a:r>
            <a:endParaRPr lang="en-US" sz="1200" dirty="0"/>
          </a:p>
        </p:txBody>
      </p:sp>
      <p:sp>
        <p:nvSpPr>
          <p:cNvPr id="7" name="Text 5"/>
          <p:cNvSpPr/>
          <p:nvPr/>
        </p:nvSpPr>
        <p:spPr>
          <a:xfrm>
            <a:off x="5387945" y="2029978"/>
            <a:ext cx="2661921"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726"/>
                </a:solidFill>
                <a:latin typeface="DM Sans" pitchFamily="34" charset="0"/>
                <a:ea typeface="DM Sans" pitchFamily="34" charset="-122"/>
                <a:cs typeface="DM Sans" pitchFamily="34" charset="-120"/>
              </a:rPr>
              <a:t>Protocol basics</a:t>
            </a:r>
            <a:endParaRPr lang="en-US" sz="1600" dirty="0"/>
          </a:p>
        </p:txBody>
      </p:sp>
      <p:sp>
        <p:nvSpPr>
          <p:cNvPr id="8" name="Text 6"/>
          <p:cNvSpPr/>
          <p:nvPr/>
        </p:nvSpPr>
        <p:spPr>
          <a:xfrm>
            <a:off x="5387945" y="2349955"/>
            <a:ext cx="2661921" cy="48769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HTTP, HTTPS, OSI and TCP/IP models</a:t>
            </a:r>
            <a:endParaRPr lang="en-US" sz="1300" dirty="0"/>
          </a:p>
        </p:txBody>
      </p:sp>
      <p:sp>
        <p:nvSpPr>
          <p:cNvPr id="9" name="Shape 7"/>
          <p:cNvSpPr/>
          <p:nvPr/>
        </p:nvSpPr>
        <p:spPr>
          <a:xfrm>
            <a:off x="8385125" y="1537236"/>
            <a:ext cx="2990941" cy="1478266"/>
          </a:xfrm>
          <a:prstGeom prst="roundRect">
            <a:avLst>
              <a:gd name="adj" fmla="val 6658"/>
            </a:avLst>
          </a:prstGeom>
          <a:solidFill>
            <a:srgbClr val="FFFFFF"/>
          </a:solidFill>
          <a:ln w="6350">
            <a:solidFill>
              <a:srgbClr val="DDE3EA"/>
            </a:solidFill>
            <a:prstDash val="solid"/>
          </a:ln>
        </p:spPr>
      </p:sp>
      <p:sp>
        <p:nvSpPr>
          <p:cNvPr id="10" name="Text 8"/>
          <p:cNvSpPr/>
          <p:nvPr/>
        </p:nvSpPr>
        <p:spPr>
          <a:xfrm>
            <a:off x="8588375" y="1740487"/>
            <a:ext cx="2661973" cy="23870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9"/>
                </a:solidFill>
                <a:latin typeface="DM Sans" pitchFamily="34" charset="0"/>
                <a:ea typeface="DM Sans" pitchFamily="34" charset="-122"/>
                <a:cs typeface="DM Sans" pitchFamily="34" charset="-120"/>
              </a:rPr>
              <a:t>02</a:t>
            </a:r>
            <a:endParaRPr lang="en-US" sz="1200" dirty="0"/>
          </a:p>
        </p:txBody>
      </p:sp>
      <p:sp>
        <p:nvSpPr>
          <p:cNvPr id="11" name="Text 9"/>
          <p:cNvSpPr/>
          <p:nvPr/>
        </p:nvSpPr>
        <p:spPr>
          <a:xfrm>
            <a:off x="8588375" y="2029978"/>
            <a:ext cx="2661973"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726"/>
                </a:solidFill>
                <a:latin typeface="DM Sans" pitchFamily="34" charset="0"/>
                <a:ea typeface="DM Sans" pitchFamily="34" charset="-122"/>
                <a:cs typeface="DM Sans" pitchFamily="34" charset="-120"/>
              </a:rPr>
              <a:t>Hands-on lab</a:t>
            </a:r>
            <a:endParaRPr lang="en-US" sz="1600" dirty="0"/>
          </a:p>
        </p:txBody>
      </p:sp>
      <p:sp>
        <p:nvSpPr>
          <p:cNvPr id="12" name="Text 10"/>
          <p:cNvSpPr/>
          <p:nvPr/>
        </p:nvSpPr>
        <p:spPr>
          <a:xfrm>
            <a:off x="8588375" y="2349955"/>
            <a:ext cx="2661973" cy="25654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Kali Linux, XAMPP and Wireshark</a:t>
            </a:r>
            <a:endParaRPr lang="en-US" sz="1300" dirty="0"/>
          </a:p>
        </p:txBody>
      </p:sp>
      <p:sp>
        <p:nvSpPr>
          <p:cNvPr id="13" name="Shape 11"/>
          <p:cNvSpPr/>
          <p:nvPr/>
        </p:nvSpPr>
        <p:spPr>
          <a:xfrm>
            <a:off x="5184694" y="3225042"/>
            <a:ext cx="2990891" cy="1478266"/>
          </a:xfrm>
          <a:prstGeom prst="roundRect">
            <a:avLst>
              <a:gd name="adj" fmla="val 6658"/>
            </a:avLst>
          </a:prstGeom>
          <a:solidFill>
            <a:srgbClr val="FFFFFF"/>
          </a:solidFill>
          <a:ln w="6350">
            <a:solidFill>
              <a:srgbClr val="DDE3EA"/>
            </a:solidFill>
            <a:prstDash val="solid"/>
          </a:ln>
        </p:spPr>
      </p:sp>
      <p:sp>
        <p:nvSpPr>
          <p:cNvPr id="14" name="Text 12"/>
          <p:cNvSpPr/>
          <p:nvPr/>
        </p:nvSpPr>
        <p:spPr>
          <a:xfrm>
            <a:off x="5387945" y="3428292"/>
            <a:ext cx="2661921" cy="23870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9"/>
                </a:solidFill>
                <a:latin typeface="DM Sans" pitchFamily="34" charset="0"/>
                <a:ea typeface="DM Sans" pitchFamily="34" charset="-122"/>
                <a:cs typeface="DM Sans" pitchFamily="34" charset="-120"/>
              </a:rPr>
              <a:t>03</a:t>
            </a:r>
            <a:endParaRPr lang="en-US" sz="1200" dirty="0"/>
          </a:p>
        </p:txBody>
      </p:sp>
      <p:sp>
        <p:nvSpPr>
          <p:cNvPr id="15" name="Text 13"/>
          <p:cNvSpPr/>
          <p:nvPr/>
        </p:nvSpPr>
        <p:spPr>
          <a:xfrm>
            <a:off x="5387945" y="3717784"/>
            <a:ext cx="2661921"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726"/>
                </a:solidFill>
                <a:latin typeface="DM Sans" pitchFamily="34" charset="0"/>
                <a:ea typeface="DM Sans" pitchFamily="34" charset="-122"/>
                <a:cs typeface="DM Sans" pitchFamily="34" charset="-120"/>
              </a:rPr>
              <a:t>Capture and compare</a:t>
            </a:r>
            <a:endParaRPr lang="en-US" sz="1600" dirty="0"/>
          </a:p>
        </p:txBody>
      </p:sp>
      <p:sp>
        <p:nvSpPr>
          <p:cNvPr id="16" name="Text 14"/>
          <p:cNvSpPr/>
          <p:nvPr/>
        </p:nvSpPr>
        <p:spPr>
          <a:xfrm>
            <a:off x="5387945" y="4037761"/>
            <a:ext cx="2661921" cy="48769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Plaintext over HTTP vs encrypted TLS</a:t>
            </a:r>
            <a:endParaRPr lang="en-US" sz="1300" dirty="0"/>
          </a:p>
        </p:txBody>
      </p:sp>
      <p:sp>
        <p:nvSpPr>
          <p:cNvPr id="17" name="Shape 15"/>
          <p:cNvSpPr/>
          <p:nvPr/>
        </p:nvSpPr>
        <p:spPr>
          <a:xfrm>
            <a:off x="8385125" y="3225042"/>
            <a:ext cx="2990941" cy="1478266"/>
          </a:xfrm>
          <a:prstGeom prst="roundRect">
            <a:avLst>
              <a:gd name="adj" fmla="val 6658"/>
            </a:avLst>
          </a:prstGeom>
          <a:solidFill>
            <a:srgbClr val="FFFFFF"/>
          </a:solidFill>
          <a:ln w="6350">
            <a:solidFill>
              <a:srgbClr val="DDE3EA"/>
            </a:solidFill>
            <a:prstDash val="solid"/>
          </a:ln>
        </p:spPr>
      </p:sp>
      <p:sp>
        <p:nvSpPr>
          <p:cNvPr id="18" name="Text 16"/>
          <p:cNvSpPr/>
          <p:nvPr/>
        </p:nvSpPr>
        <p:spPr>
          <a:xfrm>
            <a:off x="8588375" y="3428292"/>
            <a:ext cx="2661973" cy="23870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9"/>
                </a:solidFill>
                <a:latin typeface="DM Sans" pitchFamily="34" charset="0"/>
                <a:ea typeface="DM Sans" pitchFamily="34" charset="-122"/>
                <a:cs typeface="DM Sans" pitchFamily="34" charset="-120"/>
              </a:rPr>
              <a:t>04</a:t>
            </a:r>
            <a:endParaRPr lang="en-US" sz="1200" dirty="0"/>
          </a:p>
        </p:txBody>
      </p:sp>
      <p:sp>
        <p:nvSpPr>
          <p:cNvPr id="19" name="Text 17"/>
          <p:cNvSpPr/>
          <p:nvPr/>
        </p:nvSpPr>
        <p:spPr>
          <a:xfrm>
            <a:off x="8588375" y="3717784"/>
            <a:ext cx="2661973"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726"/>
                </a:solidFill>
                <a:latin typeface="DM Sans" pitchFamily="34" charset="0"/>
                <a:ea typeface="DM Sans" pitchFamily="34" charset="-122"/>
                <a:cs typeface="DM Sans" pitchFamily="34" charset="-120"/>
              </a:rPr>
              <a:t>Secure the server</a:t>
            </a:r>
            <a:endParaRPr lang="en-US" sz="1600" dirty="0"/>
          </a:p>
        </p:txBody>
      </p:sp>
      <p:sp>
        <p:nvSpPr>
          <p:cNvPr id="20" name="Text 18"/>
          <p:cNvSpPr/>
          <p:nvPr/>
        </p:nvSpPr>
        <p:spPr>
          <a:xfrm>
            <a:off x="8588375" y="4037761"/>
            <a:ext cx="2784516" cy="25654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Enable mod_ssl and verify HTTPS</a:t>
            </a:r>
            <a:endParaRPr lang="en-US" sz="1300" dirty="0"/>
          </a:p>
        </p:txBody>
      </p:sp>
      <p:sp>
        <p:nvSpPr>
          <p:cNvPr id="21" name="Text 19"/>
          <p:cNvSpPr/>
          <p:nvPr/>
        </p:nvSpPr>
        <p:spPr>
          <a:xfrm>
            <a:off x="812760" y="6238318"/>
            <a:ext cx="7194550" cy="23870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DM Sans" pitchFamily="34" charset="0"/>
                <a:ea typeface="DM Sans" pitchFamily="34" charset="-122"/>
                <a:cs typeface="DM Sans" pitchFamily="34" charset="-120"/>
              </a:rPr>
              <a:t>HTTP vs HTTPS Password Capture · Cyber Security Internship</a:t>
            </a:r>
            <a:endParaRPr lang="en-US" sz="1200" dirty="0"/>
          </a:p>
        </p:txBody>
      </p:sp>
      <p:sp>
        <p:nvSpPr>
          <p:cNvPr id="22" name="Text 20"/>
          <p:cNvSpPr/>
          <p:nvPr/>
        </p:nvSpPr>
        <p:spPr>
          <a:xfrm>
            <a:off x="9417090" y="6238318"/>
            <a:ext cx="1962150" cy="23870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DM Sans" pitchFamily="34" charset="0"/>
                <a:ea typeface="DM Sans" pitchFamily="34" charset="-122"/>
                <a:cs typeface="DM Sans" pitchFamily="34" charset="-120"/>
              </a:rPr>
              <a:t>02 / 10</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726"/>
        </a:solidFill>
      </p:bgPr>
    </p:bg>
    <p:spTree>
      <p:nvGrpSpPr>
        <p:cNvPr id="1" name=""/>
        <p:cNvGrpSpPr/>
        <p:nvPr/>
      </p:nvGrpSpPr>
      <p:grpSpPr>
        <a:xfrm>
          <a:off x="0" y="0"/>
          <a:ext cx="0" cy="0"/>
          <a:chOff x="0" y="0"/>
          <a:chExt cx="0" cy="0"/>
        </a:xfrm>
      </p:grpSpPr>
      <p:sp>
        <p:nvSpPr>
          <p:cNvPr id="2" name="Text 0"/>
          <p:cNvSpPr/>
          <p:nvPr>
            <p:ph type="title"/>
          </p:nvPr>
        </p:nvSpPr>
        <p:spPr>
          <a:xfrm>
            <a:off x="812760" y="812760"/>
            <a:ext cx="10883476" cy="49270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3F5F7"/>
                </a:solidFill>
                <a:latin typeface="DM Sans" pitchFamily="34" charset="0"/>
                <a:ea typeface="DM Sans" pitchFamily="34" charset="-122"/>
                <a:cs typeface="DM Sans" pitchFamily="34" charset="-120"/>
              </a:rPr>
              <a:t>Company Profile: Astonish InfoTech</a:t>
            </a:r>
            <a:endParaRPr lang="en-US" sz="3200" dirty="0"/>
          </a:p>
        </p:txBody>
      </p:sp>
      <p:sp>
        <p:nvSpPr>
          <p:cNvPr id="3" name="Shape 1"/>
          <p:cNvSpPr/>
          <p:nvPr/>
        </p:nvSpPr>
        <p:spPr>
          <a:xfrm>
            <a:off x="815935" y="1511805"/>
            <a:ext cx="5175270" cy="2091577"/>
          </a:xfrm>
          <a:prstGeom prst="roundRect">
            <a:avLst>
              <a:gd name="adj" fmla="val 4706"/>
            </a:avLst>
          </a:prstGeom>
          <a:solidFill>
            <a:srgbClr val="16233A"/>
          </a:solidFill>
          <a:ln w="6350">
            <a:solidFill>
              <a:srgbClr val="24344F"/>
            </a:solidFill>
            <a:prstDash val="solid"/>
          </a:ln>
        </p:spPr>
      </p:sp>
      <p:sp>
        <p:nvSpPr>
          <p:cNvPr id="4" name="Text 2"/>
          <p:cNvSpPr/>
          <p:nvPr/>
        </p:nvSpPr>
        <p:spPr>
          <a:xfrm>
            <a:off x="1044565" y="1740436"/>
            <a:ext cx="4859550"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D4BF"/>
                </a:solidFill>
                <a:latin typeface="DM Sans" pitchFamily="34" charset="0"/>
                <a:ea typeface="DM Sans" pitchFamily="34" charset="-122"/>
                <a:cs typeface="DM Sans" pitchFamily="34" charset="-120"/>
              </a:rPr>
              <a:t>About</a:t>
            </a:r>
            <a:endParaRPr lang="en-US" sz="1600" dirty="0"/>
          </a:p>
        </p:txBody>
      </p:sp>
      <p:sp>
        <p:nvSpPr>
          <p:cNvPr id="5" name="Text 3"/>
          <p:cNvSpPr/>
          <p:nvPr/>
        </p:nvSpPr>
        <p:spPr>
          <a:xfrm>
            <a:off x="1044565" y="2085794"/>
            <a:ext cx="4859550" cy="1056567"/>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D5DEEA"/>
                </a:solidFill>
                <a:latin typeface="DM Sans" pitchFamily="34" charset="0"/>
                <a:ea typeface="DM Sans" pitchFamily="34" charset="-122"/>
                <a:cs typeface="DM Sans" pitchFamily="34" charset="-120"/>
              </a:rPr>
              <a:t>Trichy-based software and web solutions company at the Technology Park, Bharathidasan University, Kajamalai Campus. It works across web, ERP, mobile, cloud, IoT and AI.</a:t>
            </a:r>
            <a:endParaRPr lang="en-US" sz="1400" dirty="0"/>
          </a:p>
        </p:txBody>
      </p:sp>
      <p:sp>
        <p:nvSpPr>
          <p:cNvPr id="6" name="Shape 4"/>
          <p:cNvSpPr/>
          <p:nvPr/>
        </p:nvSpPr>
        <p:spPr>
          <a:xfrm>
            <a:off x="6200745" y="1511805"/>
            <a:ext cx="5175321" cy="2091577"/>
          </a:xfrm>
          <a:prstGeom prst="roundRect">
            <a:avLst>
              <a:gd name="adj" fmla="val 4706"/>
            </a:avLst>
          </a:prstGeom>
          <a:solidFill>
            <a:srgbClr val="16233A"/>
          </a:solidFill>
          <a:ln w="6350">
            <a:solidFill>
              <a:srgbClr val="24344F"/>
            </a:solidFill>
            <a:prstDash val="solid"/>
          </a:ln>
        </p:spPr>
      </p:sp>
      <p:sp>
        <p:nvSpPr>
          <p:cNvPr id="7" name="Text 5"/>
          <p:cNvSpPr/>
          <p:nvPr/>
        </p:nvSpPr>
        <p:spPr>
          <a:xfrm>
            <a:off x="6429375" y="1740436"/>
            <a:ext cx="4859602"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B84B"/>
                </a:solidFill>
                <a:latin typeface="DM Sans" pitchFamily="34" charset="0"/>
                <a:ea typeface="DM Sans" pitchFamily="34" charset="-122"/>
                <a:cs typeface="DM Sans" pitchFamily="34" charset="-120"/>
              </a:rPr>
              <a:t>Services</a:t>
            </a:r>
            <a:endParaRPr lang="en-US" sz="1600" dirty="0"/>
          </a:p>
        </p:txBody>
      </p:sp>
      <p:sp>
        <p:nvSpPr>
          <p:cNvPr id="8" name="Text 6"/>
          <p:cNvSpPr/>
          <p:nvPr/>
        </p:nvSpPr>
        <p:spPr>
          <a:xfrm>
            <a:off x="6513957" y="2085794"/>
            <a:ext cx="4767400" cy="1314359"/>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D5DEEA"/>
                </a:solidFill>
                <a:latin typeface="DM Sans" pitchFamily="34" charset="0"/>
                <a:ea typeface="DM Sans" pitchFamily="34" charset="-122"/>
                <a:cs typeface="DM Sans" pitchFamily="34" charset="-120"/>
              </a:rPr>
              <a:t>Web and software development</a:t>
            </a:r>
            <a:endParaRPr lang="en-US" sz="1400" dirty="0"/>
          </a:p>
          <a:p>
            <a:pPr algn="l" marL="169418" indent="-169418">
              <a:lnSpc>
                <a:spcPts val="2030"/>
              </a:lnSpc>
              <a:buSzPct val="100000"/>
              <a:buChar char="•"/>
            </a:pPr>
            <a:r>
              <a:rPr lang="en-US" sz="1400" dirty="0">
                <a:solidFill>
                  <a:srgbClr val="D5DEEA"/>
                </a:solidFill>
                <a:latin typeface="DM Sans" pitchFamily="34" charset="0"/>
                <a:ea typeface="DM Sans" pitchFamily="34" charset="-122"/>
                <a:cs typeface="DM Sans" pitchFamily="34" charset="-120"/>
              </a:rPr>
              <a:t>Mobile app development</a:t>
            </a:r>
            <a:endParaRPr lang="en-US" sz="1400" dirty="0"/>
          </a:p>
          <a:p>
            <a:pPr algn="l" marL="169418" indent="-169418">
              <a:lnSpc>
                <a:spcPts val="2030"/>
              </a:lnSpc>
              <a:buSzPct val="100000"/>
              <a:buChar char="•"/>
            </a:pPr>
            <a:r>
              <a:rPr lang="en-US" sz="1400" dirty="0">
                <a:solidFill>
                  <a:srgbClr val="D5DEEA"/>
                </a:solidFill>
                <a:latin typeface="DM Sans" pitchFamily="34" charset="0"/>
                <a:ea typeface="DM Sans" pitchFamily="34" charset="-122"/>
                <a:cs typeface="DM Sans" pitchFamily="34" charset="-120"/>
              </a:rPr>
              <a:t>ERP and CRM solutions</a:t>
            </a:r>
            <a:endParaRPr lang="en-US" sz="1400" dirty="0"/>
          </a:p>
          <a:p>
            <a:pPr algn="l" marL="169418" indent="-169418">
              <a:lnSpc>
                <a:spcPts val="2030"/>
              </a:lnSpc>
              <a:buSzPct val="100000"/>
              <a:buChar char="•"/>
            </a:pPr>
            <a:r>
              <a:rPr lang="en-US" sz="1400" dirty="0">
                <a:solidFill>
                  <a:srgbClr val="D5DEEA"/>
                </a:solidFill>
                <a:latin typeface="DM Sans" pitchFamily="34" charset="0"/>
                <a:ea typeface="DM Sans" pitchFamily="34" charset="-122"/>
                <a:cs typeface="DM Sans" pitchFamily="34" charset="-120"/>
              </a:rPr>
              <a:t>Cyber security: SSL, secure coding</a:t>
            </a:r>
            <a:endParaRPr lang="en-US" sz="1400" dirty="0"/>
          </a:p>
          <a:p>
            <a:pPr algn="l" marL="169418" indent="-169418">
              <a:lnSpc>
                <a:spcPts val="2030"/>
              </a:lnSpc>
              <a:buSzPct val="100000"/>
              <a:buChar char="•"/>
            </a:pPr>
            <a:r>
              <a:rPr lang="en-US" sz="1400" dirty="0">
                <a:solidFill>
                  <a:srgbClr val="D5DEEA"/>
                </a:solidFill>
                <a:latin typeface="DM Sans" pitchFamily="34" charset="0"/>
                <a:ea typeface="DM Sans" pitchFamily="34" charset="-122"/>
                <a:cs typeface="DM Sans" pitchFamily="34" charset="-120"/>
              </a:rPr>
              <a:t>Cloud and IoT solutions</a:t>
            </a:r>
            <a:endParaRPr lang="en-US" sz="1400" dirty="0"/>
          </a:p>
        </p:txBody>
      </p:sp>
      <p:sp>
        <p:nvSpPr>
          <p:cNvPr id="9" name="Shape 7"/>
          <p:cNvSpPr/>
          <p:nvPr/>
        </p:nvSpPr>
        <p:spPr>
          <a:xfrm>
            <a:off x="812760" y="3835127"/>
            <a:ext cx="2527310" cy="784751"/>
          </a:xfrm>
          <a:prstGeom prst="roundRect">
            <a:avLst>
              <a:gd name="adj" fmla="val 9710"/>
            </a:avLst>
          </a:prstGeom>
          <a:solidFill>
            <a:srgbClr val="2DD4BF"/>
          </a:solidFill>
          <a:ln/>
        </p:spPr>
      </p:sp>
      <p:sp>
        <p:nvSpPr>
          <p:cNvPr id="10" name="Text 8"/>
          <p:cNvSpPr/>
          <p:nvPr/>
        </p:nvSpPr>
        <p:spPr>
          <a:xfrm>
            <a:off x="990519" y="3987507"/>
            <a:ext cx="2236945" cy="29209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1726"/>
                </a:solidFill>
                <a:latin typeface="DM Sans" pitchFamily="34" charset="0"/>
                <a:ea typeface="DM Sans" pitchFamily="34" charset="-122"/>
                <a:cs typeface="DM Sans" pitchFamily="34" charset="-120"/>
              </a:rPr>
              <a:t>1. Discuss</a:t>
            </a:r>
            <a:endParaRPr lang="en-US" sz="1500" dirty="0"/>
          </a:p>
        </p:txBody>
      </p:sp>
      <p:sp>
        <p:nvSpPr>
          <p:cNvPr id="11" name="Text 9"/>
          <p:cNvSpPr/>
          <p:nvPr/>
        </p:nvSpPr>
        <p:spPr>
          <a:xfrm>
            <a:off x="990519" y="4254198"/>
            <a:ext cx="2236945" cy="23870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726"/>
                </a:solidFill>
                <a:latin typeface="DM Sans" pitchFamily="34" charset="0"/>
                <a:ea typeface="DM Sans" pitchFamily="34" charset="-122"/>
                <a:cs typeface="DM Sans" pitchFamily="34" charset="-120"/>
              </a:rPr>
              <a:t>Requirements</a:t>
            </a:r>
            <a:endParaRPr lang="en-US" sz="1200" dirty="0"/>
          </a:p>
        </p:txBody>
      </p:sp>
      <p:sp>
        <p:nvSpPr>
          <p:cNvPr id="12" name="Shape 10"/>
          <p:cNvSpPr/>
          <p:nvPr/>
        </p:nvSpPr>
        <p:spPr>
          <a:xfrm>
            <a:off x="3492450" y="3835127"/>
            <a:ext cx="2527361" cy="784751"/>
          </a:xfrm>
          <a:prstGeom prst="roundRect">
            <a:avLst>
              <a:gd name="adj" fmla="val 9710"/>
            </a:avLst>
          </a:prstGeom>
          <a:solidFill>
            <a:srgbClr val="2DD4BF"/>
          </a:solidFill>
          <a:ln/>
        </p:spPr>
      </p:sp>
      <p:sp>
        <p:nvSpPr>
          <p:cNvPr id="13" name="Text 11"/>
          <p:cNvSpPr/>
          <p:nvPr/>
        </p:nvSpPr>
        <p:spPr>
          <a:xfrm>
            <a:off x="3670209" y="3987507"/>
            <a:ext cx="2236997" cy="29209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1726"/>
                </a:solidFill>
                <a:latin typeface="DM Sans" pitchFamily="34" charset="0"/>
                <a:ea typeface="DM Sans" pitchFamily="34" charset="-122"/>
                <a:cs typeface="DM Sans" pitchFamily="34" charset="-120"/>
              </a:rPr>
              <a:t>2. Design</a:t>
            </a:r>
            <a:endParaRPr lang="en-US" sz="1500" dirty="0"/>
          </a:p>
        </p:txBody>
      </p:sp>
      <p:sp>
        <p:nvSpPr>
          <p:cNvPr id="14" name="Text 12"/>
          <p:cNvSpPr/>
          <p:nvPr/>
        </p:nvSpPr>
        <p:spPr>
          <a:xfrm>
            <a:off x="3670209" y="4254198"/>
            <a:ext cx="2236997" cy="23870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726"/>
                </a:solidFill>
                <a:latin typeface="DM Sans" pitchFamily="34" charset="0"/>
                <a:ea typeface="DM Sans" pitchFamily="34" charset="-122"/>
                <a:cs typeface="DM Sans" pitchFamily="34" charset="-120"/>
              </a:rPr>
              <a:t>UI and architecture</a:t>
            </a:r>
            <a:endParaRPr lang="en-US" sz="1200" dirty="0"/>
          </a:p>
        </p:txBody>
      </p:sp>
      <p:sp>
        <p:nvSpPr>
          <p:cNvPr id="15" name="Shape 13"/>
          <p:cNvSpPr/>
          <p:nvPr/>
        </p:nvSpPr>
        <p:spPr>
          <a:xfrm>
            <a:off x="6172190" y="3835127"/>
            <a:ext cx="2527310" cy="784751"/>
          </a:xfrm>
          <a:prstGeom prst="roundRect">
            <a:avLst>
              <a:gd name="adj" fmla="val 9710"/>
            </a:avLst>
          </a:prstGeom>
          <a:solidFill>
            <a:srgbClr val="2DD4BF"/>
          </a:solidFill>
          <a:ln/>
        </p:spPr>
      </p:sp>
      <p:sp>
        <p:nvSpPr>
          <p:cNvPr id="16" name="Text 14"/>
          <p:cNvSpPr/>
          <p:nvPr/>
        </p:nvSpPr>
        <p:spPr>
          <a:xfrm>
            <a:off x="6349950" y="3987507"/>
            <a:ext cx="2236945" cy="29209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1726"/>
                </a:solidFill>
                <a:latin typeface="DM Sans" pitchFamily="34" charset="0"/>
                <a:ea typeface="DM Sans" pitchFamily="34" charset="-122"/>
                <a:cs typeface="DM Sans" pitchFamily="34" charset="-120"/>
              </a:rPr>
              <a:t>3. Develop</a:t>
            </a:r>
            <a:endParaRPr lang="en-US" sz="1500" dirty="0"/>
          </a:p>
        </p:txBody>
      </p:sp>
      <p:sp>
        <p:nvSpPr>
          <p:cNvPr id="17" name="Text 15"/>
          <p:cNvSpPr/>
          <p:nvPr/>
        </p:nvSpPr>
        <p:spPr>
          <a:xfrm>
            <a:off x="6349950" y="4254198"/>
            <a:ext cx="2236945" cy="23870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726"/>
                </a:solidFill>
                <a:latin typeface="DM Sans" pitchFamily="34" charset="0"/>
                <a:ea typeface="DM Sans" pitchFamily="34" charset="-122"/>
                <a:cs typeface="DM Sans" pitchFamily="34" charset="-120"/>
              </a:rPr>
              <a:t>Code and testing</a:t>
            </a:r>
            <a:endParaRPr lang="en-US" sz="1200" dirty="0"/>
          </a:p>
        </p:txBody>
      </p:sp>
      <p:sp>
        <p:nvSpPr>
          <p:cNvPr id="18" name="Shape 16"/>
          <p:cNvSpPr/>
          <p:nvPr/>
        </p:nvSpPr>
        <p:spPr>
          <a:xfrm>
            <a:off x="8851880" y="3835127"/>
            <a:ext cx="2527361" cy="784751"/>
          </a:xfrm>
          <a:prstGeom prst="roundRect">
            <a:avLst>
              <a:gd name="adj" fmla="val 9710"/>
            </a:avLst>
          </a:prstGeom>
          <a:solidFill>
            <a:srgbClr val="2DD4BF"/>
          </a:solidFill>
          <a:ln/>
        </p:spPr>
      </p:sp>
      <p:sp>
        <p:nvSpPr>
          <p:cNvPr id="19" name="Text 17"/>
          <p:cNvSpPr/>
          <p:nvPr/>
        </p:nvSpPr>
        <p:spPr>
          <a:xfrm>
            <a:off x="9029640" y="3987507"/>
            <a:ext cx="2236997" cy="29209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0E1726"/>
                </a:solidFill>
                <a:latin typeface="DM Sans" pitchFamily="34" charset="0"/>
                <a:ea typeface="DM Sans" pitchFamily="34" charset="-122"/>
                <a:cs typeface="DM Sans" pitchFamily="34" charset="-120"/>
              </a:rPr>
              <a:t>4. Deploy</a:t>
            </a:r>
            <a:endParaRPr lang="en-US" sz="1500" dirty="0"/>
          </a:p>
        </p:txBody>
      </p:sp>
      <p:sp>
        <p:nvSpPr>
          <p:cNvPr id="20" name="Text 18"/>
          <p:cNvSpPr/>
          <p:nvPr/>
        </p:nvSpPr>
        <p:spPr>
          <a:xfrm>
            <a:off x="9029640" y="4254198"/>
            <a:ext cx="2236997" cy="23870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0E1726"/>
                </a:solidFill>
                <a:latin typeface="DM Sans" pitchFamily="34" charset="0"/>
                <a:ea typeface="DM Sans" pitchFamily="34" charset="-122"/>
                <a:cs typeface="DM Sans" pitchFamily="34" charset="-120"/>
              </a:rPr>
              <a:t>Launch and support</a:t>
            </a:r>
            <a:endParaRPr lang="en-US" sz="1200" dirty="0"/>
          </a:p>
        </p:txBody>
      </p:sp>
      <p:sp>
        <p:nvSpPr>
          <p:cNvPr id="21" name="Text 19"/>
          <p:cNvSpPr/>
          <p:nvPr/>
        </p:nvSpPr>
        <p:spPr>
          <a:xfrm>
            <a:off x="812760" y="6238318"/>
            <a:ext cx="7194550" cy="23870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C"/>
                </a:solidFill>
                <a:latin typeface="DM Sans" pitchFamily="34" charset="0"/>
                <a:ea typeface="DM Sans" pitchFamily="34" charset="-122"/>
                <a:cs typeface="DM Sans" pitchFamily="34" charset="-120"/>
              </a:rPr>
              <a:t>HTTP vs HTTPS Password Capture · Cyber Security Internship</a:t>
            </a:r>
            <a:endParaRPr lang="en-US" sz="1200" dirty="0"/>
          </a:p>
        </p:txBody>
      </p:sp>
      <p:sp>
        <p:nvSpPr>
          <p:cNvPr id="22" name="Text 20"/>
          <p:cNvSpPr/>
          <p:nvPr/>
        </p:nvSpPr>
        <p:spPr>
          <a:xfrm>
            <a:off x="9417090" y="6238318"/>
            <a:ext cx="1962150" cy="23870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8CC"/>
                </a:solidFill>
                <a:latin typeface="DM Sans" pitchFamily="34" charset="0"/>
                <a:ea typeface="DM Sans" pitchFamily="34" charset="-122"/>
                <a:cs typeface="DM Sans" pitchFamily="34" charset="-120"/>
              </a:rPr>
              <a:t>03 / 10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5F7"/>
        </a:solidFill>
      </p:bgPr>
    </p:bg>
    <p:spTree>
      <p:nvGrpSpPr>
        <p:cNvPr id="1" name=""/>
        <p:cNvGrpSpPr/>
        <p:nvPr/>
      </p:nvGrpSpPr>
      <p:grpSpPr>
        <a:xfrm>
          <a:off x="0" y="0"/>
          <a:ext cx="0" cy="0"/>
          <a:chOff x="0" y="0"/>
          <a:chExt cx="0" cy="0"/>
        </a:xfrm>
      </p:grpSpPr>
      <p:sp>
        <p:nvSpPr>
          <p:cNvPr id="2" name="Text 0"/>
          <p:cNvSpPr/>
          <p:nvPr>
            <p:ph type="title"/>
          </p:nvPr>
        </p:nvSpPr>
        <p:spPr>
          <a:xfrm>
            <a:off x="812760" y="812760"/>
            <a:ext cx="10883476" cy="49270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E1726"/>
                </a:solidFill>
                <a:latin typeface="DM Sans" pitchFamily="34" charset="0"/>
                <a:ea typeface="DM Sans" pitchFamily="34" charset="-122"/>
                <a:cs typeface="DM Sans" pitchFamily="34" charset="-120"/>
              </a:rPr>
              <a:t>30-Day Learning Journey</a:t>
            </a:r>
            <a:endParaRPr lang="en-US" sz="3200" dirty="0"/>
          </a:p>
        </p:txBody>
      </p:sp>
      <p:sp>
        <p:nvSpPr>
          <p:cNvPr id="3" name="Shape 1"/>
          <p:cNvSpPr/>
          <p:nvPr/>
        </p:nvSpPr>
        <p:spPr>
          <a:xfrm>
            <a:off x="815935" y="1537236"/>
            <a:ext cx="3380334" cy="1478266"/>
          </a:xfrm>
          <a:prstGeom prst="roundRect">
            <a:avLst>
              <a:gd name="adj" fmla="val 6658"/>
            </a:avLst>
          </a:prstGeom>
          <a:solidFill>
            <a:srgbClr val="FFFFFF"/>
          </a:solidFill>
          <a:ln w="6350">
            <a:solidFill>
              <a:srgbClr val="DDE3EA"/>
            </a:solidFill>
            <a:prstDash val="solid"/>
          </a:ln>
        </p:spPr>
      </p:sp>
      <p:sp>
        <p:nvSpPr>
          <p:cNvPr id="4" name="Text 2"/>
          <p:cNvSpPr/>
          <p:nvPr/>
        </p:nvSpPr>
        <p:spPr>
          <a:xfrm>
            <a:off x="1019185" y="1740488"/>
            <a:ext cx="3063047" cy="23870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9"/>
                </a:solidFill>
                <a:latin typeface="DM Sans" pitchFamily="34" charset="0"/>
                <a:ea typeface="DM Sans" pitchFamily="34" charset="-122"/>
                <a:cs typeface="DM Sans" pitchFamily="34" charset="-120"/>
              </a:rPr>
              <a:t>Days 1–5</a:t>
            </a:r>
            <a:endParaRPr lang="en-US" sz="1200" dirty="0"/>
          </a:p>
        </p:txBody>
      </p:sp>
      <p:sp>
        <p:nvSpPr>
          <p:cNvPr id="5" name="Text 3"/>
          <p:cNvSpPr/>
          <p:nvPr/>
        </p:nvSpPr>
        <p:spPr>
          <a:xfrm>
            <a:off x="1019185" y="2029978"/>
            <a:ext cx="3063047"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726"/>
                </a:solidFill>
                <a:latin typeface="DM Sans" pitchFamily="34" charset="0"/>
                <a:ea typeface="DM Sans" pitchFamily="34" charset="-122"/>
                <a:cs typeface="DM Sans" pitchFamily="34" charset="-120"/>
              </a:rPr>
              <a:t>Cyber Security Basics</a:t>
            </a:r>
            <a:endParaRPr lang="en-US" sz="1600" dirty="0"/>
          </a:p>
        </p:txBody>
      </p:sp>
      <p:sp>
        <p:nvSpPr>
          <p:cNvPr id="6" name="Text 4"/>
          <p:cNvSpPr/>
          <p:nvPr/>
        </p:nvSpPr>
        <p:spPr>
          <a:xfrm>
            <a:off x="1019185" y="2349956"/>
            <a:ext cx="3063047" cy="48769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Threats, attacks, CIA triad, best practices</a:t>
            </a:r>
            <a:endParaRPr lang="en-US" sz="1300" dirty="0"/>
          </a:p>
        </p:txBody>
      </p:sp>
      <p:sp>
        <p:nvSpPr>
          <p:cNvPr id="7" name="Shape 5"/>
          <p:cNvSpPr/>
          <p:nvPr/>
        </p:nvSpPr>
        <p:spPr>
          <a:xfrm>
            <a:off x="4405808" y="1537236"/>
            <a:ext cx="3380334" cy="1478266"/>
          </a:xfrm>
          <a:prstGeom prst="roundRect">
            <a:avLst>
              <a:gd name="adj" fmla="val 6658"/>
            </a:avLst>
          </a:prstGeom>
          <a:solidFill>
            <a:srgbClr val="FFFFFF"/>
          </a:solidFill>
          <a:ln w="6350">
            <a:solidFill>
              <a:srgbClr val="DDE3EA"/>
            </a:solidFill>
            <a:prstDash val="solid"/>
          </a:ln>
        </p:spPr>
      </p:sp>
      <p:sp>
        <p:nvSpPr>
          <p:cNvPr id="8" name="Text 6"/>
          <p:cNvSpPr/>
          <p:nvPr/>
        </p:nvSpPr>
        <p:spPr>
          <a:xfrm>
            <a:off x="4609059" y="1740488"/>
            <a:ext cx="3063047" cy="23870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9"/>
                </a:solidFill>
                <a:latin typeface="DM Sans" pitchFamily="34" charset="0"/>
                <a:ea typeface="DM Sans" pitchFamily="34" charset="-122"/>
                <a:cs typeface="DM Sans" pitchFamily="34" charset="-120"/>
              </a:rPr>
              <a:t>Days 6–10</a:t>
            </a:r>
            <a:endParaRPr lang="en-US" sz="1200" dirty="0"/>
          </a:p>
        </p:txBody>
      </p:sp>
      <p:sp>
        <p:nvSpPr>
          <p:cNvPr id="9" name="Text 7"/>
          <p:cNvSpPr/>
          <p:nvPr/>
        </p:nvSpPr>
        <p:spPr>
          <a:xfrm>
            <a:off x="4609059" y="2029978"/>
            <a:ext cx="3063047"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726"/>
                </a:solidFill>
                <a:latin typeface="DM Sans" pitchFamily="34" charset="0"/>
                <a:ea typeface="DM Sans" pitchFamily="34" charset="-122"/>
                <a:cs typeface="DM Sans" pitchFamily="34" charset="-120"/>
              </a:rPr>
              <a:t>Networking</a:t>
            </a:r>
            <a:endParaRPr lang="en-US" sz="1600" dirty="0"/>
          </a:p>
        </p:txBody>
      </p:sp>
      <p:sp>
        <p:nvSpPr>
          <p:cNvPr id="10" name="Text 8"/>
          <p:cNvSpPr/>
          <p:nvPr/>
        </p:nvSpPr>
        <p:spPr>
          <a:xfrm>
            <a:off x="4609059" y="2349956"/>
            <a:ext cx="3063047" cy="48769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OSI, TCP/IP, IP addressing, protocols, commands</a:t>
            </a:r>
            <a:endParaRPr lang="en-US" sz="1300" dirty="0"/>
          </a:p>
        </p:txBody>
      </p:sp>
      <p:sp>
        <p:nvSpPr>
          <p:cNvPr id="11" name="Shape 9"/>
          <p:cNvSpPr/>
          <p:nvPr/>
        </p:nvSpPr>
        <p:spPr>
          <a:xfrm>
            <a:off x="7995682" y="1537236"/>
            <a:ext cx="3380384" cy="1478266"/>
          </a:xfrm>
          <a:prstGeom prst="roundRect">
            <a:avLst>
              <a:gd name="adj" fmla="val 6658"/>
            </a:avLst>
          </a:prstGeom>
          <a:solidFill>
            <a:srgbClr val="FFFFFF"/>
          </a:solidFill>
          <a:ln w="6350">
            <a:solidFill>
              <a:srgbClr val="DDE3EA"/>
            </a:solidFill>
            <a:prstDash val="solid"/>
          </a:ln>
        </p:spPr>
      </p:sp>
      <p:sp>
        <p:nvSpPr>
          <p:cNvPr id="12" name="Text 10"/>
          <p:cNvSpPr/>
          <p:nvPr/>
        </p:nvSpPr>
        <p:spPr>
          <a:xfrm>
            <a:off x="8198932" y="1740488"/>
            <a:ext cx="3063100" cy="23870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9"/>
                </a:solidFill>
                <a:latin typeface="DM Sans" pitchFamily="34" charset="0"/>
                <a:ea typeface="DM Sans" pitchFamily="34" charset="-122"/>
                <a:cs typeface="DM Sans" pitchFamily="34" charset="-120"/>
              </a:rPr>
              <a:t>Days 11–15</a:t>
            </a:r>
            <a:endParaRPr lang="en-US" sz="1200" dirty="0"/>
          </a:p>
        </p:txBody>
      </p:sp>
      <p:sp>
        <p:nvSpPr>
          <p:cNvPr id="13" name="Text 11"/>
          <p:cNvSpPr/>
          <p:nvPr/>
        </p:nvSpPr>
        <p:spPr>
          <a:xfrm>
            <a:off x="8198932" y="2029978"/>
            <a:ext cx="3063100"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726"/>
                </a:solidFill>
                <a:latin typeface="DM Sans" pitchFamily="34" charset="0"/>
                <a:ea typeface="DM Sans" pitchFamily="34" charset="-122"/>
                <a:cs typeface="DM Sans" pitchFamily="34" charset="-120"/>
              </a:rPr>
              <a:t>Linux</a:t>
            </a:r>
            <a:endParaRPr lang="en-US" sz="1600" dirty="0"/>
          </a:p>
        </p:txBody>
      </p:sp>
      <p:sp>
        <p:nvSpPr>
          <p:cNvPr id="14" name="Text 12"/>
          <p:cNvSpPr/>
          <p:nvPr/>
        </p:nvSpPr>
        <p:spPr>
          <a:xfrm>
            <a:off x="8198932" y="2349956"/>
            <a:ext cx="3063100" cy="48769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Commands, permissions, processes, services</a:t>
            </a:r>
            <a:endParaRPr lang="en-US" sz="1300" dirty="0"/>
          </a:p>
        </p:txBody>
      </p:sp>
      <p:sp>
        <p:nvSpPr>
          <p:cNvPr id="15" name="Shape 13"/>
          <p:cNvSpPr/>
          <p:nvPr/>
        </p:nvSpPr>
        <p:spPr>
          <a:xfrm>
            <a:off x="815935" y="3225042"/>
            <a:ext cx="3380334" cy="1478266"/>
          </a:xfrm>
          <a:prstGeom prst="roundRect">
            <a:avLst>
              <a:gd name="adj" fmla="val 6658"/>
            </a:avLst>
          </a:prstGeom>
          <a:solidFill>
            <a:srgbClr val="FFFFFF"/>
          </a:solidFill>
          <a:ln w="6350">
            <a:solidFill>
              <a:srgbClr val="DDE3EA"/>
            </a:solidFill>
            <a:prstDash val="solid"/>
          </a:ln>
        </p:spPr>
      </p:sp>
      <p:sp>
        <p:nvSpPr>
          <p:cNvPr id="16" name="Text 14"/>
          <p:cNvSpPr/>
          <p:nvPr/>
        </p:nvSpPr>
        <p:spPr>
          <a:xfrm>
            <a:off x="1019185" y="3428293"/>
            <a:ext cx="3063047" cy="23870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9"/>
                </a:solidFill>
                <a:latin typeface="DM Sans" pitchFamily="34" charset="0"/>
                <a:ea typeface="DM Sans" pitchFamily="34" charset="-122"/>
                <a:cs typeface="DM Sans" pitchFamily="34" charset="-120"/>
              </a:rPr>
              <a:t>Days 16–21</a:t>
            </a:r>
            <a:endParaRPr lang="en-US" sz="1200" dirty="0"/>
          </a:p>
        </p:txBody>
      </p:sp>
      <p:sp>
        <p:nvSpPr>
          <p:cNvPr id="17" name="Text 15"/>
          <p:cNvSpPr/>
          <p:nvPr/>
        </p:nvSpPr>
        <p:spPr>
          <a:xfrm>
            <a:off x="1019185" y="3717784"/>
            <a:ext cx="3063047"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726"/>
                </a:solidFill>
                <a:latin typeface="DM Sans" pitchFamily="34" charset="0"/>
                <a:ea typeface="DM Sans" pitchFamily="34" charset="-122"/>
                <a:cs typeface="DM Sans" pitchFamily="34" charset="-120"/>
              </a:rPr>
              <a:t>Ethical Hacking</a:t>
            </a:r>
            <a:endParaRPr lang="en-US" sz="1600" dirty="0"/>
          </a:p>
        </p:txBody>
      </p:sp>
      <p:sp>
        <p:nvSpPr>
          <p:cNvPr id="18" name="Text 16"/>
          <p:cNvSpPr/>
          <p:nvPr/>
        </p:nvSpPr>
        <p:spPr>
          <a:xfrm>
            <a:off x="1019185" y="4037761"/>
            <a:ext cx="3063047" cy="48769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Hacking phases, Nmap, Wireshark, vulnerabilities</a:t>
            </a:r>
            <a:endParaRPr lang="en-US" sz="1300" dirty="0"/>
          </a:p>
        </p:txBody>
      </p:sp>
      <p:sp>
        <p:nvSpPr>
          <p:cNvPr id="19" name="Shape 17"/>
          <p:cNvSpPr/>
          <p:nvPr/>
        </p:nvSpPr>
        <p:spPr>
          <a:xfrm>
            <a:off x="4405808" y="3225042"/>
            <a:ext cx="3380334" cy="1478266"/>
          </a:xfrm>
          <a:prstGeom prst="roundRect">
            <a:avLst>
              <a:gd name="adj" fmla="val 6658"/>
            </a:avLst>
          </a:prstGeom>
          <a:solidFill>
            <a:srgbClr val="FFFFFF"/>
          </a:solidFill>
          <a:ln w="6350">
            <a:solidFill>
              <a:srgbClr val="DDE3EA"/>
            </a:solidFill>
            <a:prstDash val="solid"/>
          </a:ln>
        </p:spPr>
      </p:sp>
      <p:sp>
        <p:nvSpPr>
          <p:cNvPr id="20" name="Text 18"/>
          <p:cNvSpPr/>
          <p:nvPr/>
        </p:nvSpPr>
        <p:spPr>
          <a:xfrm>
            <a:off x="4609059" y="3428293"/>
            <a:ext cx="3063047" cy="23870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B45309"/>
                </a:solidFill>
                <a:latin typeface="DM Sans" pitchFamily="34" charset="0"/>
                <a:ea typeface="DM Sans" pitchFamily="34" charset="-122"/>
                <a:cs typeface="DM Sans" pitchFamily="34" charset="-120"/>
              </a:rPr>
              <a:t>Days 22–28</a:t>
            </a:r>
            <a:endParaRPr lang="en-US" sz="1200" dirty="0"/>
          </a:p>
        </p:txBody>
      </p:sp>
      <p:sp>
        <p:nvSpPr>
          <p:cNvPr id="21" name="Text 19"/>
          <p:cNvSpPr/>
          <p:nvPr/>
        </p:nvSpPr>
        <p:spPr>
          <a:xfrm>
            <a:off x="4609059" y="3717784"/>
            <a:ext cx="3063047"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0E1726"/>
                </a:solidFill>
                <a:latin typeface="DM Sans" pitchFamily="34" charset="0"/>
                <a:ea typeface="DM Sans" pitchFamily="34" charset="-122"/>
                <a:cs typeface="DM Sans" pitchFamily="34" charset="-120"/>
              </a:rPr>
              <a:t>Web App Security</a:t>
            </a:r>
            <a:endParaRPr lang="en-US" sz="1600" dirty="0"/>
          </a:p>
        </p:txBody>
      </p:sp>
      <p:sp>
        <p:nvSpPr>
          <p:cNvPr id="22" name="Text 20"/>
          <p:cNvSpPr/>
          <p:nvPr/>
        </p:nvSpPr>
        <p:spPr>
          <a:xfrm>
            <a:off x="4609059" y="4037761"/>
            <a:ext cx="3063047" cy="48769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A5568"/>
                </a:solidFill>
                <a:latin typeface="DM Sans" pitchFamily="34" charset="0"/>
                <a:ea typeface="DM Sans" pitchFamily="34" charset="-122"/>
                <a:cs typeface="DM Sans" pitchFamily="34" charset="-120"/>
              </a:rPr>
              <a:t>HTTP/HTTPS, OWASP Top 10, SQLi, XSS, Burp Suite</a:t>
            </a:r>
            <a:endParaRPr lang="en-US" sz="1300" dirty="0"/>
          </a:p>
        </p:txBody>
      </p:sp>
      <p:sp>
        <p:nvSpPr>
          <p:cNvPr id="23" name="Shape 21"/>
          <p:cNvSpPr/>
          <p:nvPr/>
        </p:nvSpPr>
        <p:spPr>
          <a:xfrm>
            <a:off x="7992507" y="3221867"/>
            <a:ext cx="3386734" cy="1484616"/>
          </a:xfrm>
          <a:prstGeom prst="roundRect">
            <a:avLst>
              <a:gd name="adj" fmla="val 6844"/>
            </a:avLst>
          </a:prstGeom>
          <a:solidFill>
            <a:srgbClr val="0E1726"/>
          </a:solidFill>
          <a:ln/>
        </p:spPr>
      </p:sp>
      <p:sp>
        <p:nvSpPr>
          <p:cNvPr id="24" name="Text 22"/>
          <p:cNvSpPr/>
          <p:nvPr/>
        </p:nvSpPr>
        <p:spPr>
          <a:xfrm>
            <a:off x="8195697" y="3425058"/>
            <a:ext cx="3069765" cy="238701"/>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F5B84B"/>
                </a:solidFill>
                <a:latin typeface="DM Sans" pitchFamily="34" charset="0"/>
                <a:ea typeface="DM Sans" pitchFamily="34" charset="-122"/>
                <a:cs typeface="DM Sans" pitchFamily="34" charset="-120"/>
              </a:rPr>
              <a:t>Days 29–30</a:t>
            </a:r>
            <a:endParaRPr lang="en-US" sz="1200" dirty="0"/>
          </a:p>
        </p:txBody>
      </p:sp>
      <p:sp>
        <p:nvSpPr>
          <p:cNvPr id="25" name="Text 23"/>
          <p:cNvSpPr/>
          <p:nvPr/>
        </p:nvSpPr>
        <p:spPr>
          <a:xfrm>
            <a:off x="8195697" y="3714548"/>
            <a:ext cx="3069765"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7"/>
                </a:solidFill>
                <a:latin typeface="DM Sans" pitchFamily="34" charset="0"/>
                <a:ea typeface="DM Sans" pitchFamily="34" charset="-122"/>
                <a:cs typeface="DM Sans" pitchFamily="34" charset="-120"/>
              </a:rPr>
              <a:t>Testing and Report</a:t>
            </a:r>
            <a:endParaRPr lang="en-US" sz="1600" dirty="0"/>
          </a:p>
        </p:txBody>
      </p:sp>
      <p:sp>
        <p:nvSpPr>
          <p:cNvPr id="26" name="Text 24"/>
          <p:cNvSpPr/>
          <p:nvPr/>
        </p:nvSpPr>
        <p:spPr>
          <a:xfrm>
            <a:off x="8195697" y="4034526"/>
            <a:ext cx="3069765" cy="48769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B8CC"/>
                </a:solidFill>
                <a:latin typeface="DM Sans" pitchFamily="34" charset="0"/>
                <a:ea typeface="DM Sans" pitchFamily="34" charset="-122"/>
                <a:cs typeface="DM Sans" pitchFamily="34" charset="-120"/>
              </a:rPr>
              <a:t>Nmap, Wireshark, Burp Suite tests; final report</a:t>
            </a:r>
            <a:endParaRPr lang="en-US" sz="1300" dirty="0"/>
          </a:p>
        </p:txBody>
      </p:sp>
      <p:sp>
        <p:nvSpPr>
          <p:cNvPr id="27" name="Text 25"/>
          <p:cNvSpPr/>
          <p:nvPr/>
        </p:nvSpPr>
        <p:spPr>
          <a:xfrm>
            <a:off x="812760" y="6238320"/>
            <a:ext cx="7194550" cy="23870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DM Sans" pitchFamily="34" charset="0"/>
                <a:ea typeface="DM Sans" pitchFamily="34" charset="-122"/>
                <a:cs typeface="DM Sans" pitchFamily="34" charset="-120"/>
              </a:rPr>
              <a:t>HTTP vs HTTPS Password Capture · Cyber Security Internship</a:t>
            </a:r>
            <a:endParaRPr lang="en-US" sz="1200" dirty="0"/>
          </a:p>
        </p:txBody>
      </p:sp>
      <p:sp>
        <p:nvSpPr>
          <p:cNvPr id="28" name="Text 26"/>
          <p:cNvSpPr/>
          <p:nvPr/>
        </p:nvSpPr>
        <p:spPr>
          <a:xfrm>
            <a:off x="9417090" y="6238320"/>
            <a:ext cx="1962150" cy="23870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DM Sans" pitchFamily="34" charset="0"/>
                <a:ea typeface="DM Sans" pitchFamily="34" charset="-122"/>
                <a:cs typeface="DM Sans" pitchFamily="34" charset="-120"/>
              </a:rPr>
              <a:t>04 / 10</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726"/>
        </a:solidFill>
      </p:bgPr>
    </p:bg>
    <p:spTree>
      <p:nvGrpSpPr>
        <p:cNvPr id="1" name=""/>
        <p:cNvGrpSpPr/>
        <p:nvPr/>
      </p:nvGrpSpPr>
      <p:grpSpPr>
        <a:xfrm>
          <a:off x="0" y="0"/>
          <a:ext cx="0" cy="0"/>
          <a:chOff x="0" y="0"/>
          <a:chExt cx="0" cy="0"/>
        </a:xfrm>
      </p:grpSpPr>
      <p:sp>
        <p:nvSpPr>
          <p:cNvPr id="2" name="Text 0"/>
          <p:cNvSpPr/>
          <p:nvPr>
            <p:ph type="title"/>
          </p:nvPr>
        </p:nvSpPr>
        <p:spPr>
          <a:xfrm>
            <a:off x="812760" y="812760"/>
            <a:ext cx="10883476" cy="49270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3F5F7"/>
                </a:solidFill>
                <a:latin typeface="DM Sans" pitchFamily="34" charset="0"/>
                <a:ea typeface="DM Sans" pitchFamily="34" charset="-122"/>
                <a:cs typeface="DM Sans" pitchFamily="34" charset="-120"/>
              </a:rPr>
              <a:t>System Architecture</a:t>
            </a:r>
            <a:endParaRPr lang="en-US" sz="3200" dirty="0"/>
          </a:p>
        </p:txBody>
      </p:sp>
      <p:sp>
        <p:nvSpPr>
          <p:cNvPr id="3" name="Shape 1"/>
          <p:cNvSpPr/>
          <p:nvPr/>
        </p:nvSpPr>
        <p:spPr>
          <a:xfrm>
            <a:off x="815935" y="1486427"/>
            <a:ext cx="2098655" cy="1010813"/>
          </a:xfrm>
          <a:prstGeom prst="roundRect">
            <a:avLst>
              <a:gd name="adj" fmla="val 9737"/>
            </a:avLst>
          </a:prstGeom>
          <a:solidFill>
            <a:srgbClr val="16233A"/>
          </a:solidFill>
          <a:ln w="6350">
            <a:solidFill>
              <a:srgbClr val="24344F"/>
            </a:solidFill>
            <a:prstDash val="solid"/>
          </a:ln>
        </p:spPr>
      </p:sp>
      <p:sp>
        <p:nvSpPr>
          <p:cNvPr id="4" name="Text 2"/>
          <p:cNvSpPr/>
          <p:nvPr/>
        </p:nvSpPr>
        <p:spPr>
          <a:xfrm>
            <a:off x="968375" y="1638867"/>
            <a:ext cx="1847587" cy="25397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3F5F7"/>
                </a:solidFill>
                <a:latin typeface="DM Sans" pitchFamily="34" charset="0"/>
                <a:ea typeface="DM Sans" pitchFamily="34" charset="-122"/>
                <a:cs typeface="DM Sans" pitchFamily="34" charset="-120"/>
              </a:rPr>
              <a:t>Client Browser</a:t>
            </a:r>
            <a:endParaRPr lang="en-US" sz="1500" dirty="0"/>
          </a:p>
        </p:txBody>
      </p:sp>
      <p:sp>
        <p:nvSpPr>
          <p:cNvPr id="5" name="Text 3"/>
          <p:cNvSpPr/>
          <p:nvPr/>
        </p:nvSpPr>
        <p:spPr>
          <a:xfrm>
            <a:off x="968375" y="1918196"/>
            <a:ext cx="1847587" cy="45200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C"/>
                </a:solidFill>
                <a:latin typeface="DM Sans" pitchFamily="34" charset="0"/>
                <a:ea typeface="DM Sans" pitchFamily="34" charset="-122"/>
                <a:cs typeface="DM Sans" pitchFamily="34" charset="-120"/>
              </a:rPr>
              <a:t>Sends User ID and password</a:t>
            </a:r>
            <a:endParaRPr lang="en-US" sz="1200" dirty="0"/>
          </a:p>
        </p:txBody>
      </p:sp>
      <p:pic>
        <p:nvPicPr>
          <p:cNvPr id="6" name="Image 0" descr="arrow-right">    </p:cNvPr>
          <p:cNvPicPr>
            <a:picLocks noChangeAspect="1"/>
          </p:cNvPicPr>
          <p:nvPr/>
        </p:nvPicPr>
        <p:blipFill>
          <a:blip r:embed="rId1"/>
          <a:srcRect l="0" r="0" t="0" b="0"/>
          <a:stretch/>
        </p:blipFill>
        <p:spPr>
          <a:xfrm>
            <a:off x="3070144" y="1890238"/>
            <a:ext cx="406380" cy="203190"/>
          </a:xfrm>
          <a:prstGeom prst="rect">
            <a:avLst/>
          </a:prstGeom>
        </p:spPr>
      </p:pic>
      <p:sp>
        <p:nvSpPr>
          <p:cNvPr id="7" name="Shape 4"/>
          <p:cNvSpPr/>
          <p:nvPr/>
        </p:nvSpPr>
        <p:spPr>
          <a:xfrm>
            <a:off x="3635254" y="1589754"/>
            <a:ext cx="2105298" cy="804104"/>
          </a:xfrm>
          <a:prstGeom prst="roundRect">
            <a:avLst>
              <a:gd name="adj" fmla="val 11845"/>
            </a:avLst>
          </a:prstGeom>
          <a:solidFill>
            <a:srgbClr val="16233A"/>
          </a:solidFill>
          <a:ln w="12700">
            <a:solidFill>
              <a:srgbClr val="F5B84B"/>
            </a:solidFill>
            <a:prstDash val="dash"/>
          </a:ln>
        </p:spPr>
      </p:sp>
      <p:sp>
        <p:nvSpPr>
          <p:cNvPr id="8" name="Text 5"/>
          <p:cNvSpPr/>
          <p:nvPr/>
        </p:nvSpPr>
        <p:spPr>
          <a:xfrm>
            <a:off x="3790991" y="1745493"/>
            <a:ext cx="1847639" cy="25397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5B84B"/>
                </a:solidFill>
                <a:latin typeface="DM Sans" pitchFamily="34" charset="0"/>
                <a:ea typeface="DM Sans" pitchFamily="34" charset="-122"/>
                <a:cs typeface="DM Sans" pitchFamily="34" charset="-120"/>
              </a:rPr>
              <a:t>mod_ssl / TLS</a:t>
            </a:r>
            <a:endParaRPr lang="en-US" sz="1500" dirty="0"/>
          </a:p>
        </p:txBody>
      </p:sp>
      <p:sp>
        <p:nvSpPr>
          <p:cNvPr id="9" name="Text 6"/>
          <p:cNvSpPr/>
          <p:nvPr/>
        </p:nvSpPr>
        <p:spPr>
          <a:xfrm>
            <a:off x="3790991" y="2024822"/>
            <a:ext cx="1847639" cy="23870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C"/>
                </a:solidFill>
                <a:latin typeface="DM Sans" pitchFamily="34" charset="0"/>
                <a:ea typeface="DM Sans" pitchFamily="34" charset="-122"/>
                <a:cs typeface="DM Sans" pitchFamily="34" charset="-120"/>
              </a:rPr>
              <a:t>HTTPS path only</a:t>
            </a:r>
            <a:endParaRPr lang="en-US" sz="1200" dirty="0"/>
          </a:p>
        </p:txBody>
      </p:sp>
      <p:pic>
        <p:nvPicPr>
          <p:cNvPr id="10" name="Image 1" descr="arrow-right">    </p:cNvPr>
          <p:cNvPicPr>
            <a:picLocks noChangeAspect="1"/>
          </p:cNvPicPr>
          <p:nvPr/>
        </p:nvPicPr>
        <p:blipFill>
          <a:blip r:embed="rId2"/>
          <a:srcRect l="0" r="0" t="0" b="0"/>
          <a:stretch/>
        </p:blipFill>
        <p:spPr>
          <a:xfrm>
            <a:off x="5899281" y="1890238"/>
            <a:ext cx="406380" cy="203190"/>
          </a:xfrm>
          <a:prstGeom prst="rect">
            <a:avLst/>
          </a:prstGeom>
        </p:spPr>
      </p:pic>
      <p:sp>
        <p:nvSpPr>
          <p:cNvPr id="11" name="Shape 7"/>
          <p:cNvSpPr/>
          <p:nvPr/>
        </p:nvSpPr>
        <p:spPr>
          <a:xfrm>
            <a:off x="6461216" y="1593053"/>
            <a:ext cx="2098655" cy="797511"/>
          </a:xfrm>
          <a:prstGeom prst="roundRect">
            <a:avLst>
              <a:gd name="adj" fmla="val 12342"/>
            </a:avLst>
          </a:prstGeom>
          <a:solidFill>
            <a:srgbClr val="16233A"/>
          </a:solidFill>
          <a:ln w="6350">
            <a:solidFill>
              <a:srgbClr val="24344F"/>
            </a:solidFill>
            <a:prstDash val="solid"/>
          </a:ln>
        </p:spPr>
      </p:sp>
      <p:sp>
        <p:nvSpPr>
          <p:cNvPr id="12" name="Text 8"/>
          <p:cNvSpPr/>
          <p:nvPr/>
        </p:nvSpPr>
        <p:spPr>
          <a:xfrm>
            <a:off x="6613657" y="1745493"/>
            <a:ext cx="1847587" cy="25397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3F5F7"/>
                </a:solidFill>
                <a:latin typeface="DM Sans" pitchFamily="34" charset="0"/>
                <a:ea typeface="DM Sans" pitchFamily="34" charset="-122"/>
                <a:cs typeface="DM Sans" pitchFamily="34" charset="-120"/>
              </a:rPr>
              <a:t>Apache (XAMPP)</a:t>
            </a:r>
            <a:endParaRPr lang="en-US" sz="1500" dirty="0"/>
          </a:p>
        </p:txBody>
      </p:sp>
      <p:sp>
        <p:nvSpPr>
          <p:cNvPr id="13" name="Text 9"/>
          <p:cNvSpPr/>
          <p:nvPr/>
        </p:nvSpPr>
        <p:spPr>
          <a:xfrm>
            <a:off x="6613657" y="2024822"/>
            <a:ext cx="1847587" cy="23870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C"/>
                </a:solidFill>
                <a:latin typeface="DM Sans" pitchFamily="34" charset="0"/>
                <a:ea typeface="DM Sans" pitchFamily="34" charset="-122"/>
                <a:cs typeface="DM Sans" pitchFamily="34" charset="-120"/>
              </a:rPr>
              <a:t>Port 80 and port 443</a:t>
            </a:r>
            <a:endParaRPr lang="en-US" sz="1200" dirty="0"/>
          </a:p>
        </p:txBody>
      </p:sp>
      <p:pic>
        <p:nvPicPr>
          <p:cNvPr id="14" name="Image 2" descr="arrow-right">    </p:cNvPr>
          <p:cNvPicPr>
            <a:picLocks noChangeAspect="1"/>
          </p:cNvPicPr>
          <p:nvPr/>
        </p:nvPicPr>
        <p:blipFill>
          <a:blip r:embed="rId3"/>
          <a:srcRect l="0" r="0" t="0" b="0"/>
          <a:stretch/>
        </p:blipFill>
        <p:spPr>
          <a:xfrm>
            <a:off x="8715425" y="1890238"/>
            <a:ext cx="406380" cy="203190"/>
          </a:xfrm>
          <a:prstGeom prst="rect">
            <a:avLst/>
          </a:prstGeom>
        </p:spPr>
      </p:pic>
      <p:sp>
        <p:nvSpPr>
          <p:cNvPr id="15" name="Shape 10"/>
          <p:cNvSpPr/>
          <p:nvPr/>
        </p:nvSpPr>
        <p:spPr>
          <a:xfrm>
            <a:off x="9277360" y="1593053"/>
            <a:ext cx="2098705" cy="797511"/>
          </a:xfrm>
          <a:prstGeom prst="roundRect">
            <a:avLst>
              <a:gd name="adj" fmla="val 12342"/>
            </a:avLst>
          </a:prstGeom>
          <a:solidFill>
            <a:srgbClr val="16233A"/>
          </a:solidFill>
          <a:ln w="6350">
            <a:solidFill>
              <a:srgbClr val="24344F"/>
            </a:solidFill>
            <a:prstDash val="solid"/>
          </a:ln>
        </p:spPr>
      </p:sp>
      <p:sp>
        <p:nvSpPr>
          <p:cNvPr id="16" name="Text 11"/>
          <p:cNvSpPr/>
          <p:nvPr/>
        </p:nvSpPr>
        <p:spPr>
          <a:xfrm>
            <a:off x="9429800" y="1745493"/>
            <a:ext cx="1847639" cy="25397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F3F5F7"/>
                </a:solidFill>
                <a:latin typeface="DM Sans" pitchFamily="34" charset="0"/>
                <a:ea typeface="DM Sans" pitchFamily="34" charset="-122"/>
                <a:cs typeface="DM Sans" pitchFamily="34" charset="-120"/>
              </a:rPr>
              <a:t>login.php</a:t>
            </a:r>
            <a:endParaRPr lang="en-US" sz="1500" dirty="0"/>
          </a:p>
        </p:txBody>
      </p:sp>
      <p:sp>
        <p:nvSpPr>
          <p:cNvPr id="17" name="Text 12"/>
          <p:cNvSpPr/>
          <p:nvPr/>
        </p:nvSpPr>
        <p:spPr>
          <a:xfrm>
            <a:off x="9429800" y="2024822"/>
            <a:ext cx="1847639" cy="23870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C"/>
                </a:solidFill>
                <a:latin typeface="DM Sans" pitchFamily="34" charset="0"/>
                <a:ea typeface="DM Sans" pitchFamily="34" charset="-122"/>
                <a:cs typeface="DM Sans" pitchFamily="34" charset="-120"/>
              </a:rPr>
              <a:t>Reads the POST fields</a:t>
            </a:r>
            <a:endParaRPr lang="en-US" sz="1200" dirty="0"/>
          </a:p>
        </p:txBody>
      </p:sp>
      <p:sp>
        <p:nvSpPr>
          <p:cNvPr id="18" name="Text 13"/>
          <p:cNvSpPr/>
          <p:nvPr/>
        </p:nvSpPr>
        <p:spPr>
          <a:xfrm>
            <a:off x="819110" y="2709952"/>
            <a:ext cx="10553781" cy="560367"/>
          </a:xfrm>
          <a:prstGeom prst="roundRect">
            <a:avLst>
              <a:gd name="adj" fmla="val 16998"/>
            </a:avLst>
          </a:prstGeom>
          <a:solidFill>
            <a:srgbClr val="0A111D"/>
          </a:solidFill>
          <a:ln w="12700">
            <a:solidFill>
              <a:srgbClr val="2DD4BF"/>
            </a:solidFill>
            <a:prstDash val="solid"/>
          </a:ln>
        </p:spPr>
        <p:txBody>
          <a:bodyPr wrap="square" lIns="178649" tIns="127859" rIns="0" bIns="102419" rtlCol="0" anchor="t">
            <a:normAutofit/>
          </a:bodyPr>
          <a:lstStyle/>
          <a:p>
            <a:pPr algn="l" indent="0" marL="0">
              <a:lnSpc>
                <a:spcPts val="1960"/>
              </a:lnSpc>
              <a:buNone/>
            </a:pPr>
            <a:r>
              <a:rPr lang="en-US" sz="1400" b="1" dirty="0">
                <a:solidFill>
                  <a:srgbClr val="5EEAD4"/>
                </a:solidFill>
                <a:latin typeface="DM Sans" pitchFamily="34" charset="0"/>
                <a:ea typeface="DM Sans" pitchFamily="34" charset="-122"/>
                <a:cs typeface="DM Sans" pitchFamily="34" charset="-120"/>
              </a:rPr>
              <a:t>Wireshark listens on the loopback (lo) interface and sees every packet in both modes.</a:t>
            </a:r>
            <a:endParaRPr lang="en-US" sz="1400" dirty="0"/>
          </a:p>
        </p:txBody>
      </p:sp>
      <p:sp>
        <p:nvSpPr>
          <p:cNvPr id="19" name="Shape 14"/>
          <p:cNvSpPr/>
          <p:nvPr/>
        </p:nvSpPr>
        <p:spPr>
          <a:xfrm>
            <a:off x="812760" y="3479862"/>
            <a:ext cx="5181620" cy="1125103"/>
          </a:xfrm>
          <a:prstGeom prst="roundRect">
            <a:avLst>
              <a:gd name="adj" fmla="val 6773"/>
            </a:avLst>
          </a:prstGeom>
          <a:solidFill>
            <a:srgbClr val="16233A"/>
          </a:solidFill>
          <a:ln/>
        </p:spPr>
      </p:sp>
      <p:sp>
        <p:nvSpPr>
          <p:cNvPr id="20" name="Shape 15"/>
          <p:cNvSpPr/>
          <p:nvPr/>
        </p:nvSpPr>
        <p:spPr>
          <a:xfrm>
            <a:off x="812760" y="3479862"/>
            <a:ext cx="5181620" cy="1125103"/>
          </a:xfrm>
          <a:custGeom>
            <a:avLst/>
            <a:gdLst/>
            <a:ahLst/>
            <a:cxnLst/>
            <a:rect l="l" t="t" r="r" b="b"/>
            <a:pathLst>
              <a:path w="5181620" h="1125103">
                <a:moveTo>
                  <a:pt x="76200" y="1125103"/>
                </a:moveTo>
                <a:lnTo>
                  <a:pt x="76200" y="1125103"/>
                </a:lnTo>
                <a:arcTo hR="76200" wR="76200" stAng="5400000" swAng="5400000"/>
                <a:lnTo>
                  <a:pt x="0" y="76200"/>
                </a:lnTo>
                <a:arcTo hR="76200" wR="76200" stAng="10800000" swAng="5400000"/>
                <a:lnTo>
                  <a:pt x="76200" y="0"/>
                </a:lnTo>
                <a:arcTo hR="76200" wR="25400" stAng="16200000" swAng="-5400000"/>
                <a:lnTo>
                  <a:pt x="50800" y="1048903"/>
                </a:lnTo>
                <a:arcTo hR="76200" wR="25400" stAng="10800000" swAng="-5400000"/>
                <a:close/>
              </a:path>
            </a:pathLst>
          </a:custGeom>
          <a:solidFill>
            <a:srgbClr val="F5B84B"/>
          </a:solidFill>
          <a:ln/>
        </p:spPr>
      </p:sp>
      <p:sp>
        <p:nvSpPr>
          <p:cNvPr id="21" name="Text 16"/>
          <p:cNvSpPr/>
          <p:nvPr/>
        </p:nvSpPr>
        <p:spPr>
          <a:xfrm>
            <a:off x="1064484" y="3657622"/>
            <a:ext cx="4868507"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B84B"/>
                </a:solidFill>
                <a:latin typeface="DM Sans" pitchFamily="34" charset="0"/>
                <a:ea typeface="DM Sans" pitchFamily="34" charset="-122"/>
                <a:cs typeface="DM Sans" pitchFamily="34" charset="-120"/>
              </a:rPr>
              <a:t>HTTP · Port 80</a:t>
            </a:r>
            <a:endParaRPr lang="en-US" sz="1600" dirty="0"/>
          </a:p>
        </p:txBody>
      </p:sp>
      <p:sp>
        <p:nvSpPr>
          <p:cNvPr id="22" name="Text 17"/>
          <p:cNvSpPr/>
          <p:nvPr/>
        </p:nvSpPr>
        <p:spPr>
          <a:xfrm>
            <a:off x="1064484" y="3964908"/>
            <a:ext cx="4929895" cy="25654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EEA"/>
                </a:solidFill>
                <a:latin typeface="DM Sans" pitchFamily="34" charset="0"/>
                <a:ea typeface="DM Sans" pitchFamily="34" charset="-122"/>
                <a:cs typeface="DM Sans" pitchFamily="34" charset="-120"/>
              </a:rPr>
              <a:t>Request is readable text. Username and password are visible.</a:t>
            </a:r>
            <a:endParaRPr lang="en-US" sz="1300" dirty="0"/>
          </a:p>
        </p:txBody>
      </p:sp>
      <p:sp>
        <p:nvSpPr>
          <p:cNvPr id="23" name="Shape 18"/>
          <p:cNvSpPr/>
          <p:nvPr/>
        </p:nvSpPr>
        <p:spPr>
          <a:xfrm>
            <a:off x="6197570" y="3479862"/>
            <a:ext cx="5181671" cy="1125103"/>
          </a:xfrm>
          <a:prstGeom prst="roundRect">
            <a:avLst>
              <a:gd name="adj" fmla="val 6773"/>
            </a:avLst>
          </a:prstGeom>
          <a:solidFill>
            <a:srgbClr val="16233A"/>
          </a:solidFill>
          <a:ln/>
        </p:spPr>
      </p:sp>
      <p:sp>
        <p:nvSpPr>
          <p:cNvPr id="24" name="Shape 19"/>
          <p:cNvSpPr/>
          <p:nvPr/>
        </p:nvSpPr>
        <p:spPr>
          <a:xfrm>
            <a:off x="6197570" y="3479862"/>
            <a:ext cx="5181671" cy="1125103"/>
          </a:xfrm>
          <a:custGeom>
            <a:avLst/>
            <a:gdLst/>
            <a:ahLst/>
            <a:cxnLst/>
            <a:rect l="l" t="t" r="r" b="b"/>
            <a:pathLst>
              <a:path w="5181671" h="1125103">
                <a:moveTo>
                  <a:pt x="76200" y="1125103"/>
                </a:moveTo>
                <a:lnTo>
                  <a:pt x="76200" y="1125103"/>
                </a:lnTo>
                <a:arcTo hR="76200" wR="76200" stAng="5400000" swAng="5400000"/>
                <a:lnTo>
                  <a:pt x="0" y="76200"/>
                </a:lnTo>
                <a:arcTo hR="76200" wR="76200" stAng="10800000" swAng="5400000"/>
                <a:lnTo>
                  <a:pt x="76200" y="0"/>
                </a:lnTo>
                <a:arcTo hR="76200" wR="25400" stAng="16200000" swAng="-5400000"/>
                <a:lnTo>
                  <a:pt x="50800" y="1048903"/>
                </a:lnTo>
                <a:arcTo hR="76200" wR="25400" stAng="10800000" swAng="-5400000"/>
                <a:close/>
              </a:path>
            </a:pathLst>
          </a:custGeom>
          <a:solidFill>
            <a:srgbClr val="2DD4BF"/>
          </a:solidFill>
          <a:ln/>
        </p:spPr>
      </p:sp>
      <p:sp>
        <p:nvSpPr>
          <p:cNvPr id="25" name="Text 20"/>
          <p:cNvSpPr/>
          <p:nvPr/>
        </p:nvSpPr>
        <p:spPr>
          <a:xfrm>
            <a:off x="6449295" y="3657622"/>
            <a:ext cx="4868559"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D4BF"/>
                </a:solidFill>
                <a:latin typeface="DM Sans" pitchFamily="34" charset="0"/>
                <a:ea typeface="DM Sans" pitchFamily="34" charset="-122"/>
                <a:cs typeface="DM Sans" pitchFamily="34" charset="-120"/>
              </a:rPr>
              <a:t>HTTPS · Port 443</a:t>
            </a:r>
            <a:endParaRPr lang="en-US" sz="1600" dirty="0"/>
          </a:p>
        </p:txBody>
      </p:sp>
      <p:sp>
        <p:nvSpPr>
          <p:cNvPr id="26" name="Text 21"/>
          <p:cNvSpPr/>
          <p:nvPr/>
        </p:nvSpPr>
        <p:spPr>
          <a:xfrm>
            <a:off x="6449295" y="3964908"/>
            <a:ext cx="4868559" cy="487696"/>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D5DEEA"/>
                </a:solidFill>
                <a:latin typeface="DM Sans" pitchFamily="34" charset="0"/>
                <a:ea typeface="DM Sans" pitchFamily="34" charset="-122"/>
                <a:cs typeface="DM Sans" pitchFamily="34" charset="-120"/>
              </a:rPr>
              <a:t>TLS 1.3 encrypts the request first. Wireshark sees only cipher-text.</a:t>
            </a:r>
            <a:endParaRPr lang="en-US" sz="1300" dirty="0"/>
          </a:p>
        </p:txBody>
      </p:sp>
      <p:sp>
        <p:nvSpPr>
          <p:cNvPr id="27" name="Text 22"/>
          <p:cNvSpPr/>
          <p:nvPr/>
        </p:nvSpPr>
        <p:spPr>
          <a:xfrm>
            <a:off x="812760" y="6238320"/>
            <a:ext cx="7194550" cy="23870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C"/>
                </a:solidFill>
                <a:latin typeface="DM Sans" pitchFamily="34" charset="0"/>
                <a:ea typeface="DM Sans" pitchFamily="34" charset="-122"/>
                <a:cs typeface="DM Sans" pitchFamily="34" charset="-120"/>
              </a:rPr>
              <a:t>HTTP vs HTTPS Password Capture · Cyber Security Internship</a:t>
            </a:r>
            <a:endParaRPr lang="en-US" sz="1200" dirty="0"/>
          </a:p>
        </p:txBody>
      </p:sp>
      <p:sp>
        <p:nvSpPr>
          <p:cNvPr id="28" name="Text 23"/>
          <p:cNvSpPr/>
          <p:nvPr/>
        </p:nvSpPr>
        <p:spPr>
          <a:xfrm>
            <a:off x="9417090" y="6238320"/>
            <a:ext cx="1962150" cy="23870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8CC"/>
                </a:solidFill>
                <a:latin typeface="DM Sans" pitchFamily="34" charset="0"/>
                <a:ea typeface="DM Sans" pitchFamily="34" charset="-122"/>
                <a:cs typeface="DM Sans" pitchFamily="34" charset="-120"/>
              </a:rPr>
              <a:t>05 / 10</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5F7"/>
        </a:solidFill>
      </p:bgPr>
    </p:bg>
    <p:spTree>
      <p:nvGrpSpPr>
        <p:cNvPr id="1" name=""/>
        <p:cNvGrpSpPr/>
        <p:nvPr/>
      </p:nvGrpSpPr>
      <p:grpSpPr>
        <a:xfrm>
          <a:off x="0" y="0"/>
          <a:ext cx="0" cy="0"/>
          <a:chOff x="0" y="0"/>
          <a:chExt cx="0" cy="0"/>
        </a:xfrm>
      </p:grpSpPr>
      <p:sp>
        <p:nvSpPr>
          <p:cNvPr id="2" name="Text 0"/>
          <p:cNvSpPr/>
          <p:nvPr>
            <p:ph type="title"/>
          </p:nvPr>
        </p:nvSpPr>
        <p:spPr>
          <a:xfrm>
            <a:off x="812760" y="812760"/>
            <a:ext cx="10883476" cy="49270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E1726"/>
                </a:solidFill>
                <a:latin typeface="DM Sans" pitchFamily="34" charset="0"/>
                <a:ea typeface="DM Sans" pitchFamily="34" charset="-122"/>
                <a:cs typeface="DM Sans" pitchFamily="34" charset="-120"/>
              </a:rPr>
              <a:t>Existing System vs Proposed System</a:t>
            </a:r>
            <a:endParaRPr lang="en-US" sz="3200" dirty="0"/>
          </a:p>
        </p:txBody>
      </p:sp>
      <p:sp>
        <p:nvSpPr>
          <p:cNvPr id="3" name="Shape 1"/>
          <p:cNvSpPr/>
          <p:nvPr/>
        </p:nvSpPr>
        <p:spPr>
          <a:xfrm>
            <a:off x="815935" y="1537236"/>
            <a:ext cx="5175270" cy="2487845"/>
          </a:xfrm>
          <a:prstGeom prst="roundRect">
            <a:avLst>
              <a:gd name="adj" fmla="val 3956"/>
            </a:avLst>
          </a:prstGeom>
          <a:solidFill>
            <a:srgbClr val="FFFFFF"/>
          </a:solidFill>
          <a:ln w="6350">
            <a:solidFill>
              <a:srgbClr val="DDE3EA"/>
            </a:solidFill>
            <a:prstDash val="solid"/>
          </a:ln>
        </p:spPr>
      </p:sp>
      <p:sp>
        <p:nvSpPr>
          <p:cNvPr id="4" name="Text 2"/>
          <p:cNvSpPr/>
          <p:nvPr/>
        </p:nvSpPr>
        <p:spPr>
          <a:xfrm>
            <a:off x="1044565" y="1765867"/>
            <a:ext cx="4859550" cy="238701"/>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B45309"/>
                </a:solidFill>
                <a:latin typeface="DM Sans" pitchFamily="34" charset="0"/>
                <a:ea typeface="DM Sans" pitchFamily="34" charset="-122"/>
                <a:cs typeface="DM Sans" pitchFamily="34" charset="-120"/>
              </a:rPr>
              <a:t>PROBLEM</a:t>
            </a:r>
            <a:endParaRPr lang="en-US" sz="1200" dirty="0"/>
          </a:p>
        </p:txBody>
      </p:sp>
      <p:sp>
        <p:nvSpPr>
          <p:cNvPr id="5" name="Text 3"/>
          <p:cNvSpPr/>
          <p:nvPr/>
        </p:nvSpPr>
        <p:spPr>
          <a:xfrm>
            <a:off x="1044565" y="2106169"/>
            <a:ext cx="4859550" cy="299724"/>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1726"/>
                </a:solidFill>
                <a:latin typeface="DM Sans" pitchFamily="34" charset="0"/>
                <a:ea typeface="DM Sans" pitchFamily="34" charset="-122"/>
                <a:cs typeface="DM Sans" pitchFamily="34" charset="-120"/>
              </a:rPr>
              <a:t>Login over plain HTTP</a:t>
            </a:r>
            <a:endParaRPr lang="en-US" sz="1800" dirty="0"/>
          </a:p>
        </p:txBody>
      </p:sp>
      <p:sp>
        <p:nvSpPr>
          <p:cNvPr id="6" name="Text 4"/>
          <p:cNvSpPr/>
          <p:nvPr/>
        </p:nvSpPr>
        <p:spPr>
          <a:xfrm>
            <a:off x="1129147" y="2507493"/>
            <a:ext cx="4767348" cy="1314359"/>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2D3748"/>
                </a:solidFill>
                <a:latin typeface="DM Sans" pitchFamily="34" charset="0"/>
                <a:ea typeface="DM Sans" pitchFamily="34" charset="-122"/>
                <a:cs typeface="DM Sans" pitchFamily="34" charset="-120"/>
              </a:rPr>
              <a:t>Credentials travel as plaintext</a:t>
            </a:r>
            <a:endParaRPr lang="en-US" sz="1400" dirty="0"/>
          </a:p>
          <a:p>
            <a:pPr algn="l" marL="169418" indent="-169418">
              <a:lnSpc>
                <a:spcPts val="2030"/>
              </a:lnSpc>
              <a:buSzPct val="100000"/>
              <a:buChar char="•"/>
            </a:pPr>
            <a:r>
              <a:rPr lang="en-US" sz="1400" dirty="0">
                <a:solidFill>
                  <a:srgbClr val="2D3748"/>
                </a:solidFill>
                <a:latin typeface="DM Sans" pitchFamily="34" charset="0"/>
                <a:ea typeface="DM Sans" pitchFamily="34" charset="-122"/>
                <a:cs typeface="DM Sans" pitchFamily="34" charset="-120"/>
              </a:rPr>
              <a:t>Anyone on the network path can sniff them with Wireshark</a:t>
            </a:r>
            <a:endParaRPr lang="en-US" sz="1400" dirty="0"/>
          </a:p>
          <a:p>
            <a:pPr algn="l" marL="169418" indent="-169418">
              <a:lnSpc>
                <a:spcPts val="2030"/>
              </a:lnSpc>
              <a:buSzPct val="100000"/>
              <a:buChar char="•"/>
            </a:pPr>
            <a:r>
              <a:rPr lang="en-US" sz="1400" dirty="0">
                <a:solidFill>
                  <a:srgbClr val="2D3748"/>
                </a:solidFill>
                <a:latin typeface="DM Sans" pitchFamily="34" charset="0"/>
                <a:ea typeface="DM Sans" pitchFamily="34" charset="-122"/>
                <a:cs typeface="DM Sans" pitchFamily="34" charset="-120"/>
              </a:rPr>
              <a:t>Misconfigured HTTPS carries the same risk</a:t>
            </a:r>
            <a:endParaRPr lang="en-US" sz="1400" dirty="0"/>
          </a:p>
          <a:p>
            <a:pPr algn="l" marL="169418" indent="-169418">
              <a:lnSpc>
                <a:spcPts val="2030"/>
              </a:lnSpc>
              <a:buSzPct val="100000"/>
              <a:buChar char="•"/>
            </a:pPr>
            <a:r>
              <a:rPr lang="en-US" sz="1400" dirty="0">
                <a:solidFill>
                  <a:srgbClr val="2D3748"/>
                </a:solidFill>
                <a:latin typeface="DM Sans" pitchFamily="34" charset="0"/>
                <a:ea typeface="DM Sans" pitchFamily="34" charset="-122"/>
                <a:cs typeface="DM Sans" pitchFamily="34" charset="-120"/>
              </a:rPr>
              <a:t>Not compliant with RBI guidelines and IT Act, 2000</a:t>
            </a:r>
            <a:endParaRPr lang="en-US" sz="1400" dirty="0"/>
          </a:p>
        </p:txBody>
      </p:sp>
      <p:sp>
        <p:nvSpPr>
          <p:cNvPr id="7" name="Shape 5"/>
          <p:cNvSpPr/>
          <p:nvPr/>
        </p:nvSpPr>
        <p:spPr>
          <a:xfrm>
            <a:off x="6200745" y="1537236"/>
            <a:ext cx="5175321" cy="2487845"/>
          </a:xfrm>
          <a:prstGeom prst="roundRect">
            <a:avLst>
              <a:gd name="adj" fmla="val 3956"/>
            </a:avLst>
          </a:prstGeom>
          <a:solidFill>
            <a:srgbClr val="FFFFFF"/>
          </a:solidFill>
          <a:ln w="6350">
            <a:solidFill>
              <a:srgbClr val="DDE3EA"/>
            </a:solidFill>
            <a:prstDash val="solid"/>
          </a:ln>
        </p:spPr>
      </p:sp>
      <p:sp>
        <p:nvSpPr>
          <p:cNvPr id="8" name="Text 6"/>
          <p:cNvSpPr/>
          <p:nvPr/>
        </p:nvSpPr>
        <p:spPr>
          <a:xfrm>
            <a:off x="6429375" y="1765867"/>
            <a:ext cx="4859602" cy="238701"/>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0F766E"/>
                </a:solidFill>
                <a:latin typeface="DM Sans" pitchFamily="34" charset="0"/>
                <a:ea typeface="DM Sans" pitchFamily="34" charset="-122"/>
                <a:cs typeface="DM Sans" pitchFamily="34" charset="-120"/>
              </a:rPr>
              <a:t>SOLUTION</a:t>
            </a:r>
            <a:endParaRPr lang="en-US" sz="1200" dirty="0"/>
          </a:p>
        </p:txBody>
      </p:sp>
      <p:sp>
        <p:nvSpPr>
          <p:cNvPr id="9" name="Text 7"/>
          <p:cNvSpPr/>
          <p:nvPr/>
        </p:nvSpPr>
        <p:spPr>
          <a:xfrm>
            <a:off x="6429375" y="2106169"/>
            <a:ext cx="4859602" cy="299724"/>
          </a:xfrm>
          <a:prstGeom prst="rect">
            <a:avLst/>
          </a:prstGeom>
          <a:noFill/>
          <a:ln/>
        </p:spPr>
        <p:txBody>
          <a:bodyPr wrap="square" lIns="0" tIns="0" rIns="0" bIns="0" rtlCol="0" anchor="t">
            <a:normAutofit/>
          </a:bodyPr>
          <a:lstStyle/>
          <a:p>
            <a:pPr algn="l" indent="0" marL="0">
              <a:lnSpc>
                <a:spcPts val="2160"/>
              </a:lnSpc>
              <a:buNone/>
            </a:pPr>
            <a:r>
              <a:rPr lang="en-US" sz="1800" b="1" dirty="0">
                <a:solidFill>
                  <a:srgbClr val="0E1726"/>
                </a:solidFill>
                <a:latin typeface="DM Sans" pitchFamily="34" charset="0"/>
                <a:ea typeface="DM Sans" pitchFamily="34" charset="-122"/>
                <a:cs typeface="DM Sans" pitchFamily="34" charset="-120"/>
              </a:rPr>
              <a:t>Same app, tested over HTTP then HTTPS</a:t>
            </a:r>
            <a:endParaRPr lang="en-US" sz="1800" dirty="0"/>
          </a:p>
        </p:txBody>
      </p:sp>
      <p:sp>
        <p:nvSpPr>
          <p:cNvPr id="10" name="Text 8"/>
          <p:cNvSpPr/>
          <p:nvPr/>
        </p:nvSpPr>
        <p:spPr>
          <a:xfrm>
            <a:off x="6513957" y="2507493"/>
            <a:ext cx="4767400" cy="1056567"/>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2D3748"/>
                </a:solidFill>
                <a:latin typeface="DM Sans" pitchFamily="34" charset="0"/>
                <a:ea typeface="DM Sans" pitchFamily="34" charset="-122"/>
                <a:cs typeface="DM Sans" pitchFamily="34" charset="-120"/>
              </a:rPr>
              <a:t>Reproducible: every step is command-driven</a:t>
            </a:r>
            <a:endParaRPr lang="en-US" sz="1400" dirty="0"/>
          </a:p>
          <a:p>
            <a:pPr algn="l" marL="169418" indent="-169418">
              <a:lnSpc>
                <a:spcPts val="2030"/>
              </a:lnSpc>
              <a:buSzPct val="100000"/>
              <a:buChar char="•"/>
            </a:pPr>
            <a:r>
              <a:rPr lang="en-US" sz="1400" dirty="0">
                <a:solidFill>
                  <a:srgbClr val="2D3748"/>
                </a:solidFill>
                <a:latin typeface="DM Sans" pitchFamily="34" charset="0"/>
                <a:ea typeface="DM Sans" pitchFamily="34" charset="-122"/>
                <a:cs typeface="DM Sans" pitchFamily="34" charset="-120"/>
              </a:rPr>
              <a:t>Observable: Wireshark evidence at each stage</a:t>
            </a:r>
            <a:endParaRPr lang="en-US" sz="1400" dirty="0"/>
          </a:p>
          <a:p>
            <a:pPr algn="l" marL="169418" indent="-169418">
              <a:lnSpc>
                <a:spcPts val="2030"/>
              </a:lnSpc>
              <a:buSzPct val="100000"/>
              <a:buChar char="•"/>
            </a:pPr>
            <a:r>
              <a:rPr lang="en-US" sz="1400" dirty="0">
                <a:solidFill>
                  <a:srgbClr val="2D3748"/>
                </a:solidFill>
                <a:latin typeface="DM Sans" pitchFamily="34" charset="0"/>
                <a:ea typeface="DM Sans" pitchFamily="34" charset="-122"/>
                <a:cs typeface="DM Sans" pitchFamily="34" charset="-120"/>
              </a:rPr>
              <a:t>Safe: loopback only, isolated lab</a:t>
            </a:r>
            <a:endParaRPr lang="en-US" sz="1400" dirty="0"/>
          </a:p>
          <a:p>
            <a:pPr algn="l" marL="169418" indent="-169418">
              <a:lnSpc>
                <a:spcPts val="2030"/>
              </a:lnSpc>
              <a:buSzPct val="100000"/>
              <a:buChar char="•"/>
            </a:pPr>
            <a:r>
              <a:rPr lang="en-US" sz="1400" dirty="0">
                <a:solidFill>
                  <a:srgbClr val="2D3748"/>
                </a:solidFill>
                <a:latin typeface="DM Sans" pitchFamily="34" charset="0"/>
                <a:ea typeface="DM Sans" pitchFamily="34" charset="-122"/>
                <a:cs typeface="DM Sans" pitchFamily="34" charset="-120"/>
              </a:rPr>
              <a:t>Low cost: free and open-source tools</a:t>
            </a:r>
            <a:endParaRPr lang="en-US" sz="1400" dirty="0"/>
          </a:p>
        </p:txBody>
      </p:sp>
      <p:sp>
        <p:nvSpPr>
          <p:cNvPr id="11" name="Text 9"/>
          <p:cNvSpPr/>
          <p:nvPr/>
        </p:nvSpPr>
        <p:spPr>
          <a:xfrm>
            <a:off x="812760" y="6238320"/>
            <a:ext cx="7194550" cy="23870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DM Sans" pitchFamily="34" charset="0"/>
                <a:ea typeface="DM Sans" pitchFamily="34" charset="-122"/>
                <a:cs typeface="DM Sans" pitchFamily="34" charset="-120"/>
              </a:rPr>
              <a:t>HTTP vs HTTPS Password Capture · Cyber Security Internship</a:t>
            </a:r>
            <a:endParaRPr lang="en-US" sz="1200" dirty="0"/>
          </a:p>
        </p:txBody>
      </p:sp>
      <p:sp>
        <p:nvSpPr>
          <p:cNvPr id="12" name="Text 10"/>
          <p:cNvSpPr/>
          <p:nvPr/>
        </p:nvSpPr>
        <p:spPr>
          <a:xfrm>
            <a:off x="9417090" y="6238320"/>
            <a:ext cx="1962150" cy="23870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DM Sans" pitchFamily="34" charset="0"/>
                <a:ea typeface="DM Sans" pitchFamily="34" charset="-122"/>
                <a:cs typeface="DM Sans" pitchFamily="34" charset="-120"/>
              </a:rPr>
              <a:t>06 / 10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726"/>
        </a:solidFill>
      </p:bgPr>
    </p:bg>
    <p:spTree>
      <p:nvGrpSpPr>
        <p:cNvPr id="1" name=""/>
        <p:cNvGrpSpPr/>
        <p:nvPr/>
      </p:nvGrpSpPr>
      <p:grpSpPr>
        <a:xfrm>
          <a:off x="0" y="0"/>
          <a:ext cx="0" cy="0"/>
          <a:chOff x="0" y="0"/>
          <a:chExt cx="0" cy="0"/>
        </a:xfrm>
      </p:grpSpPr>
      <p:sp>
        <p:nvSpPr>
          <p:cNvPr id="2" name="Text 0"/>
          <p:cNvSpPr/>
          <p:nvPr>
            <p:ph type="title"/>
          </p:nvPr>
        </p:nvSpPr>
        <p:spPr>
          <a:xfrm>
            <a:off x="812760" y="812760"/>
            <a:ext cx="10883476" cy="49270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3F5F7"/>
                </a:solidFill>
                <a:latin typeface="DM Sans" pitchFamily="34" charset="0"/>
                <a:ea typeface="DM Sans" pitchFamily="34" charset="-122"/>
                <a:cs typeface="DM Sans" pitchFamily="34" charset="-120"/>
              </a:rPr>
              <a:t>Implementation Steps</a:t>
            </a:r>
            <a:endParaRPr lang="en-US" sz="3200" dirty="0"/>
          </a:p>
        </p:txBody>
      </p:sp>
      <p:sp>
        <p:nvSpPr>
          <p:cNvPr id="3" name="Shape 1"/>
          <p:cNvSpPr/>
          <p:nvPr/>
        </p:nvSpPr>
        <p:spPr>
          <a:xfrm>
            <a:off x="815935" y="1486427"/>
            <a:ext cx="10560131" cy="767127"/>
          </a:xfrm>
          <a:prstGeom prst="roundRect">
            <a:avLst>
              <a:gd name="adj" fmla="val 12830"/>
            </a:avLst>
          </a:prstGeom>
          <a:solidFill>
            <a:srgbClr val="16233A"/>
          </a:solidFill>
          <a:ln w="6350">
            <a:solidFill>
              <a:srgbClr val="24344F"/>
            </a:solidFill>
            <a:prstDash val="solid"/>
          </a:ln>
        </p:spPr>
      </p:sp>
      <p:sp>
        <p:nvSpPr>
          <p:cNvPr id="4" name="Text 2"/>
          <p:cNvSpPr/>
          <p:nvPr/>
        </p:nvSpPr>
        <p:spPr>
          <a:xfrm>
            <a:off x="1019185" y="1666776"/>
            <a:ext cx="406380" cy="406380"/>
          </a:xfrm>
          <a:custGeom>
            <a:avLst/>
            <a:gdLst/>
            <a:ahLst/>
            <a:cxnLst/>
            <a:rect l="l" t="t" r="r" b="b"/>
            <a:pathLst>
              <a:path w="406380" h="406380">
                <a:moveTo>
                  <a:pt x="203190" y="0"/>
                </a:moveTo>
                <a:lnTo>
                  <a:pt x="203190" y="0"/>
                </a:lnTo>
                <a:arcTo hR="203190" wR="203190" stAng="16200000" swAng="5400000"/>
                <a:lnTo>
                  <a:pt x="406380" y="203190"/>
                </a:lnTo>
                <a:arcTo hR="203190" wR="203190" stAng="0" swAng="5400000"/>
                <a:lnTo>
                  <a:pt x="203190" y="406380"/>
                </a:lnTo>
                <a:arcTo hR="203190" wR="203190" stAng="5400000" swAng="5400000"/>
                <a:lnTo>
                  <a:pt x="0" y="203190"/>
                </a:lnTo>
                <a:arcTo hR="203190" wR="203190" stAng="10800000" swAng="5400000"/>
                <a:close/>
              </a:path>
            </a:pathLst>
          </a:custGeom>
          <a:solidFill>
            <a:srgbClr val="F5B84B"/>
          </a:solidFill>
          <a:ln/>
        </p:spPr>
        <p:txBody>
          <a:bodyPr wrap="square" lIns="0" tIns="0" rIns="0" bIns="0" rtlCol="0" anchor="t">
            <a:normAutofit/>
          </a:bodyPr>
          <a:lstStyle/>
          <a:p>
            <a:pPr algn="ctr" indent="0" marL="0">
              <a:lnSpc>
                <a:spcPts val="3200"/>
              </a:lnSpc>
              <a:buNone/>
            </a:pPr>
            <a:r>
              <a:rPr lang="en-US" sz="1600" b="1" dirty="0">
                <a:solidFill>
                  <a:srgbClr val="0E1726"/>
                </a:solidFill>
                <a:latin typeface="DM Sans" pitchFamily="34" charset="0"/>
                <a:ea typeface="DM Sans" pitchFamily="34" charset="-122"/>
                <a:cs typeface="DM Sans" pitchFamily="34" charset="-120"/>
              </a:rPr>
              <a:t>1</a:t>
            </a:r>
            <a:endParaRPr lang="en-US" sz="1600" dirty="0"/>
          </a:p>
        </p:txBody>
      </p:sp>
      <p:sp>
        <p:nvSpPr>
          <p:cNvPr id="5" name="Text 3"/>
          <p:cNvSpPr/>
          <p:nvPr/>
        </p:nvSpPr>
        <p:spPr>
          <a:xfrm>
            <a:off x="1628755" y="1613486"/>
            <a:ext cx="5042746"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7"/>
                </a:solidFill>
                <a:latin typeface="DM Sans" pitchFamily="34" charset="0"/>
                <a:ea typeface="DM Sans" pitchFamily="34" charset="-122"/>
                <a:cs typeface="DM Sans" pitchFamily="34" charset="-120"/>
              </a:rPr>
              <a:t>Set up the lab</a:t>
            </a:r>
            <a:endParaRPr lang="en-US" sz="1600" dirty="0"/>
          </a:p>
        </p:txBody>
      </p:sp>
      <p:sp>
        <p:nvSpPr>
          <p:cNvPr id="6" name="Text 4"/>
          <p:cNvSpPr/>
          <p:nvPr/>
        </p:nvSpPr>
        <p:spPr>
          <a:xfrm>
            <a:off x="1628755" y="1895345"/>
            <a:ext cx="5042746" cy="25654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B8CC"/>
                </a:solidFill>
                <a:latin typeface="DM Sans" pitchFamily="34" charset="0"/>
                <a:ea typeface="DM Sans" pitchFamily="34" charset="-122"/>
                <a:cs typeface="DM Sans" pitchFamily="34" charset="-120"/>
              </a:rPr>
              <a:t>Start Apache and MySQL, deploy the login page</a:t>
            </a:r>
            <a:endParaRPr lang="en-US" sz="1300" dirty="0"/>
          </a:p>
        </p:txBody>
      </p:sp>
      <p:sp>
        <p:nvSpPr>
          <p:cNvPr id="7" name="Text 5"/>
          <p:cNvSpPr/>
          <p:nvPr/>
        </p:nvSpPr>
        <p:spPr>
          <a:xfrm>
            <a:off x="6727815" y="1666825"/>
            <a:ext cx="4445000" cy="406329"/>
          </a:xfrm>
          <a:prstGeom prst="roundRect">
            <a:avLst>
              <a:gd name="adj" fmla="val 18753"/>
            </a:avLst>
          </a:prstGeom>
          <a:solidFill>
            <a:srgbClr val="0A111D"/>
          </a:solidFill>
          <a:ln/>
        </p:spPr>
        <p:txBody>
          <a:bodyPr wrap="square" lIns="104682" tIns="66582" rIns="0" bIns="41141" rtlCol="0" anchor="t">
            <a:normAutofit/>
          </a:bodyPr>
          <a:lstStyle/>
          <a:p>
            <a:pPr algn="l" indent="0" marL="0">
              <a:lnSpc>
                <a:spcPts val="1800"/>
              </a:lnSpc>
              <a:buNone/>
            </a:pPr>
            <a:r>
              <a:rPr lang="en-US" sz="1200" dirty="0">
                <a:solidFill>
                  <a:srgbClr val="5EEAD4"/>
                </a:solidFill>
                <a:latin typeface="JetBrains Mono" pitchFamily="49" charset="0"/>
                <a:ea typeface="JetBrains Mono" pitchFamily="49" charset="-122"/>
                <a:cs typeface="JetBrains Mono" pitchFamily="49" charset="-120"/>
              </a:rPr>
              <a:t>sudo /opt/lampp/lampp start</a:t>
            </a:r>
            <a:endParaRPr lang="en-US" sz="1200" dirty="0"/>
          </a:p>
        </p:txBody>
      </p:sp>
      <p:sp>
        <p:nvSpPr>
          <p:cNvPr id="8" name="Shape 6"/>
          <p:cNvSpPr/>
          <p:nvPr/>
        </p:nvSpPr>
        <p:spPr>
          <a:xfrm>
            <a:off x="815935" y="2361471"/>
            <a:ext cx="10560131" cy="767127"/>
          </a:xfrm>
          <a:prstGeom prst="roundRect">
            <a:avLst>
              <a:gd name="adj" fmla="val 12830"/>
            </a:avLst>
          </a:prstGeom>
          <a:solidFill>
            <a:srgbClr val="16233A"/>
          </a:solidFill>
          <a:ln w="6350">
            <a:solidFill>
              <a:srgbClr val="24344F"/>
            </a:solidFill>
            <a:prstDash val="solid"/>
          </a:ln>
        </p:spPr>
      </p:sp>
      <p:sp>
        <p:nvSpPr>
          <p:cNvPr id="9" name="Text 7"/>
          <p:cNvSpPr/>
          <p:nvPr/>
        </p:nvSpPr>
        <p:spPr>
          <a:xfrm>
            <a:off x="1019185" y="2541820"/>
            <a:ext cx="406380" cy="406380"/>
          </a:xfrm>
          <a:custGeom>
            <a:avLst/>
            <a:gdLst/>
            <a:ahLst/>
            <a:cxnLst/>
            <a:rect l="l" t="t" r="r" b="b"/>
            <a:pathLst>
              <a:path w="406380" h="406380">
                <a:moveTo>
                  <a:pt x="203190" y="0"/>
                </a:moveTo>
                <a:lnTo>
                  <a:pt x="203190" y="0"/>
                </a:lnTo>
                <a:arcTo hR="203190" wR="203190" stAng="16200000" swAng="5400000"/>
                <a:lnTo>
                  <a:pt x="406380" y="203190"/>
                </a:lnTo>
                <a:arcTo hR="203190" wR="203190" stAng="0" swAng="5400000"/>
                <a:lnTo>
                  <a:pt x="203190" y="406380"/>
                </a:lnTo>
                <a:arcTo hR="203190" wR="203190" stAng="5400000" swAng="5400000"/>
                <a:lnTo>
                  <a:pt x="0" y="203190"/>
                </a:lnTo>
                <a:arcTo hR="203190" wR="203190" stAng="10800000" swAng="5400000"/>
                <a:close/>
              </a:path>
            </a:pathLst>
          </a:custGeom>
          <a:solidFill>
            <a:srgbClr val="F5B84B"/>
          </a:solidFill>
          <a:ln/>
        </p:spPr>
        <p:txBody>
          <a:bodyPr wrap="square" lIns="0" tIns="0" rIns="0" bIns="0" rtlCol="0" anchor="t">
            <a:normAutofit/>
          </a:bodyPr>
          <a:lstStyle/>
          <a:p>
            <a:pPr algn="ctr" indent="0" marL="0">
              <a:lnSpc>
                <a:spcPts val="3200"/>
              </a:lnSpc>
              <a:buNone/>
            </a:pPr>
            <a:r>
              <a:rPr lang="en-US" sz="1600" b="1" dirty="0">
                <a:solidFill>
                  <a:srgbClr val="0E1726"/>
                </a:solidFill>
                <a:latin typeface="DM Sans" pitchFamily="34" charset="0"/>
                <a:ea typeface="DM Sans" pitchFamily="34" charset="-122"/>
                <a:cs typeface="DM Sans" pitchFamily="34" charset="-120"/>
              </a:rPr>
              <a:t>2</a:t>
            </a:r>
            <a:endParaRPr lang="en-US" sz="1600" dirty="0"/>
          </a:p>
        </p:txBody>
      </p:sp>
      <p:sp>
        <p:nvSpPr>
          <p:cNvPr id="10" name="Text 8"/>
          <p:cNvSpPr/>
          <p:nvPr/>
        </p:nvSpPr>
        <p:spPr>
          <a:xfrm>
            <a:off x="1628755" y="2488533"/>
            <a:ext cx="5042746"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7"/>
                </a:solidFill>
                <a:latin typeface="DM Sans" pitchFamily="34" charset="0"/>
                <a:ea typeface="DM Sans" pitchFamily="34" charset="-122"/>
                <a:cs typeface="DM Sans" pitchFamily="34" charset="-120"/>
              </a:rPr>
              <a:t>Capture over HTTP</a:t>
            </a:r>
            <a:endParaRPr lang="en-US" sz="1600" dirty="0"/>
          </a:p>
        </p:txBody>
      </p:sp>
      <p:sp>
        <p:nvSpPr>
          <p:cNvPr id="11" name="Text 9"/>
          <p:cNvSpPr/>
          <p:nvPr/>
        </p:nvSpPr>
        <p:spPr>
          <a:xfrm>
            <a:off x="1628755" y="2770389"/>
            <a:ext cx="5042746" cy="25654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B8CC"/>
                </a:solidFill>
                <a:latin typeface="DM Sans" pitchFamily="34" charset="0"/>
                <a:ea typeface="DM Sans" pitchFamily="34" charset="-122"/>
                <a:cs typeface="DM Sans" pitchFamily="34" charset="-120"/>
              </a:rPr>
              <a:t>Submit the form and read the POST body</a:t>
            </a:r>
            <a:endParaRPr lang="en-US" sz="1300" dirty="0"/>
          </a:p>
        </p:txBody>
      </p:sp>
      <p:sp>
        <p:nvSpPr>
          <p:cNvPr id="12" name="Text 10"/>
          <p:cNvSpPr/>
          <p:nvPr/>
        </p:nvSpPr>
        <p:spPr>
          <a:xfrm>
            <a:off x="6727815" y="2541873"/>
            <a:ext cx="4445000" cy="406329"/>
          </a:xfrm>
          <a:prstGeom prst="roundRect">
            <a:avLst>
              <a:gd name="adj" fmla="val 18753"/>
            </a:avLst>
          </a:prstGeom>
          <a:solidFill>
            <a:srgbClr val="0A111D"/>
          </a:solidFill>
          <a:ln/>
        </p:spPr>
        <p:txBody>
          <a:bodyPr wrap="square" lIns="104682" tIns="66582" rIns="0" bIns="41141" rtlCol="0" anchor="t">
            <a:normAutofit/>
          </a:bodyPr>
          <a:lstStyle/>
          <a:p>
            <a:pPr algn="l" indent="0" marL="0">
              <a:lnSpc>
                <a:spcPts val="1800"/>
              </a:lnSpc>
              <a:buNone/>
            </a:pPr>
            <a:r>
              <a:rPr lang="en-US" sz="1200" dirty="0">
                <a:solidFill>
                  <a:srgbClr val="5EEAD4"/>
                </a:solidFill>
                <a:latin typeface="JetBrains Mono" pitchFamily="49" charset="0"/>
                <a:ea typeface="JetBrains Mono" pitchFamily="49" charset="-122"/>
                <a:cs typeface="JetBrains Mono" pitchFamily="49" charset="-120"/>
              </a:rPr>
              <a:t>Wireshark: Loopback lo, filter: http</a:t>
            </a:r>
            <a:endParaRPr lang="en-US" sz="1200" dirty="0"/>
          </a:p>
        </p:txBody>
      </p:sp>
      <p:sp>
        <p:nvSpPr>
          <p:cNvPr id="13" name="Shape 11"/>
          <p:cNvSpPr/>
          <p:nvPr/>
        </p:nvSpPr>
        <p:spPr>
          <a:xfrm>
            <a:off x="815935" y="3236519"/>
            <a:ext cx="10560131" cy="889020"/>
          </a:xfrm>
          <a:prstGeom prst="roundRect">
            <a:avLst>
              <a:gd name="adj" fmla="val 11071"/>
            </a:avLst>
          </a:prstGeom>
          <a:solidFill>
            <a:srgbClr val="16233A"/>
          </a:solidFill>
          <a:ln w="6350">
            <a:solidFill>
              <a:srgbClr val="24344F"/>
            </a:solidFill>
            <a:prstDash val="solid"/>
          </a:ln>
        </p:spPr>
      </p:sp>
      <p:sp>
        <p:nvSpPr>
          <p:cNvPr id="14" name="Text 12"/>
          <p:cNvSpPr/>
          <p:nvPr/>
        </p:nvSpPr>
        <p:spPr>
          <a:xfrm>
            <a:off x="1019185" y="3477840"/>
            <a:ext cx="406380" cy="406380"/>
          </a:xfrm>
          <a:custGeom>
            <a:avLst/>
            <a:gdLst/>
            <a:ahLst/>
            <a:cxnLst/>
            <a:rect l="l" t="t" r="r" b="b"/>
            <a:pathLst>
              <a:path w="406380" h="406380">
                <a:moveTo>
                  <a:pt x="203190" y="0"/>
                </a:moveTo>
                <a:lnTo>
                  <a:pt x="203190" y="0"/>
                </a:lnTo>
                <a:arcTo hR="203190" wR="203190" stAng="16200000" swAng="5400000"/>
                <a:lnTo>
                  <a:pt x="406380" y="203190"/>
                </a:lnTo>
                <a:arcTo hR="203190" wR="203190" stAng="0" swAng="5400000"/>
                <a:lnTo>
                  <a:pt x="203190" y="406380"/>
                </a:lnTo>
                <a:arcTo hR="203190" wR="203190" stAng="5400000" swAng="5400000"/>
                <a:lnTo>
                  <a:pt x="0" y="203190"/>
                </a:lnTo>
                <a:arcTo hR="203190" wR="203190" stAng="10800000" swAng="5400000"/>
                <a:close/>
              </a:path>
            </a:pathLst>
          </a:custGeom>
          <a:solidFill>
            <a:srgbClr val="F5B84B"/>
          </a:solidFill>
          <a:ln/>
        </p:spPr>
        <p:txBody>
          <a:bodyPr wrap="square" lIns="0" tIns="0" rIns="0" bIns="0" rtlCol="0" anchor="t">
            <a:normAutofit/>
          </a:bodyPr>
          <a:lstStyle/>
          <a:p>
            <a:pPr algn="ctr" indent="0" marL="0">
              <a:lnSpc>
                <a:spcPts val="3200"/>
              </a:lnSpc>
              <a:buNone/>
            </a:pPr>
            <a:r>
              <a:rPr lang="en-US" sz="1600" b="1" dirty="0">
                <a:solidFill>
                  <a:srgbClr val="0E1726"/>
                </a:solidFill>
                <a:latin typeface="DM Sans" pitchFamily="34" charset="0"/>
                <a:ea typeface="DM Sans" pitchFamily="34" charset="-122"/>
                <a:cs typeface="DM Sans" pitchFamily="34" charset="-120"/>
              </a:rPr>
              <a:t>3</a:t>
            </a:r>
            <a:endParaRPr lang="en-US" sz="1600" dirty="0"/>
          </a:p>
        </p:txBody>
      </p:sp>
      <p:sp>
        <p:nvSpPr>
          <p:cNvPr id="15" name="Text 13"/>
          <p:cNvSpPr/>
          <p:nvPr/>
        </p:nvSpPr>
        <p:spPr>
          <a:xfrm>
            <a:off x="1628755" y="3424501"/>
            <a:ext cx="5042746"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7"/>
                </a:solidFill>
                <a:latin typeface="DM Sans" pitchFamily="34" charset="0"/>
                <a:ea typeface="DM Sans" pitchFamily="34" charset="-122"/>
                <a:cs typeface="DM Sans" pitchFamily="34" charset="-120"/>
              </a:rPr>
              <a:t>Enable TLS</a:t>
            </a:r>
            <a:endParaRPr lang="en-US" sz="1600" dirty="0"/>
          </a:p>
        </p:txBody>
      </p:sp>
      <p:sp>
        <p:nvSpPr>
          <p:cNvPr id="16" name="Text 14"/>
          <p:cNvSpPr/>
          <p:nvPr/>
        </p:nvSpPr>
        <p:spPr>
          <a:xfrm>
            <a:off x="1628755" y="3706357"/>
            <a:ext cx="5042746" cy="25654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B8CC"/>
                </a:solidFill>
                <a:latin typeface="DM Sans" pitchFamily="34" charset="0"/>
                <a:ea typeface="DM Sans" pitchFamily="34" charset="-122"/>
                <a:cs typeface="DM Sans" pitchFamily="34" charset="-120"/>
              </a:rPr>
              <a:t>Back up, check ssl_module, validate, restart</a:t>
            </a:r>
            <a:endParaRPr lang="en-US" sz="1300" dirty="0"/>
          </a:p>
        </p:txBody>
      </p:sp>
      <p:sp>
        <p:nvSpPr>
          <p:cNvPr id="17" name="Text 15"/>
          <p:cNvSpPr/>
          <p:nvPr/>
        </p:nvSpPr>
        <p:spPr>
          <a:xfrm>
            <a:off x="6727815" y="3363581"/>
            <a:ext cx="4445000" cy="634899"/>
          </a:xfrm>
          <a:prstGeom prst="roundRect">
            <a:avLst>
              <a:gd name="adj" fmla="val 12002"/>
            </a:avLst>
          </a:prstGeom>
          <a:solidFill>
            <a:srgbClr val="0A111D"/>
          </a:solidFill>
          <a:ln/>
        </p:spPr>
        <p:txBody>
          <a:bodyPr wrap="square" lIns="104682" tIns="66582" rIns="0" bIns="41141" rtlCol="0" anchor="t">
            <a:normAutofit/>
          </a:bodyPr>
          <a:lstStyle/>
          <a:p>
            <a:pPr algn="l" indent="0" marL="0">
              <a:lnSpc>
                <a:spcPts val="1800"/>
              </a:lnSpc>
              <a:buNone/>
            </a:pPr>
            <a:r>
              <a:rPr lang="en-US" sz="1200" dirty="0">
                <a:solidFill>
                  <a:srgbClr val="5EEAD4"/>
                </a:solidFill>
                <a:latin typeface="JetBrains Mono" pitchFamily="49" charset="0"/>
                <a:ea typeface="JetBrains Mono" pitchFamily="49" charset="-122"/>
                <a:cs typeface="JetBrains Mono" pitchFamily="49" charset="-120"/>
              </a:rPr>
              <a:t>sudo /opt/lampp/bin/httpd -t</a:t>
            </a:r>
            <a:endParaRPr lang="en-US" sz="1200" dirty="0"/>
          </a:p>
          <a:p>
            <a:pPr algn="l" indent="0" marL="0">
              <a:lnSpc>
                <a:spcPts val="1800"/>
              </a:lnSpc>
              <a:buNone/>
            </a:pPr>
            <a:r>
              <a:rPr lang="en-US" sz="1200" dirty="0">
                <a:solidFill>
                  <a:srgbClr val="5EEAD4"/>
                </a:solidFill>
                <a:latin typeface="JetBrains Mono" pitchFamily="49" charset="0"/>
                <a:ea typeface="JetBrains Mono" pitchFamily="49" charset="-122"/>
                <a:cs typeface="JetBrains Mono" pitchFamily="49" charset="-120"/>
              </a:rPr>
              <a:t>sudo /opt/lampp/lampp restart</a:t>
            </a:r>
            <a:endParaRPr lang="en-US" sz="1200" dirty="0"/>
          </a:p>
        </p:txBody>
      </p:sp>
      <p:sp>
        <p:nvSpPr>
          <p:cNvPr id="18" name="Shape 16"/>
          <p:cNvSpPr/>
          <p:nvPr/>
        </p:nvSpPr>
        <p:spPr>
          <a:xfrm>
            <a:off x="815935" y="4233459"/>
            <a:ext cx="10560131" cy="1346160"/>
          </a:xfrm>
          <a:prstGeom prst="roundRect">
            <a:avLst>
              <a:gd name="adj" fmla="val 7312"/>
            </a:avLst>
          </a:prstGeom>
          <a:solidFill>
            <a:srgbClr val="16233A"/>
          </a:solidFill>
          <a:ln w="6350">
            <a:solidFill>
              <a:srgbClr val="24344F"/>
            </a:solidFill>
            <a:prstDash val="solid"/>
          </a:ln>
        </p:spPr>
      </p:sp>
      <p:sp>
        <p:nvSpPr>
          <p:cNvPr id="19" name="Text 17"/>
          <p:cNvSpPr/>
          <p:nvPr/>
        </p:nvSpPr>
        <p:spPr>
          <a:xfrm>
            <a:off x="1019185" y="4703350"/>
            <a:ext cx="406380" cy="406380"/>
          </a:xfrm>
          <a:custGeom>
            <a:avLst/>
            <a:gdLst/>
            <a:ahLst/>
            <a:cxnLst/>
            <a:rect l="l" t="t" r="r" b="b"/>
            <a:pathLst>
              <a:path w="406380" h="406380">
                <a:moveTo>
                  <a:pt x="203190" y="0"/>
                </a:moveTo>
                <a:lnTo>
                  <a:pt x="203190" y="0"/>
                </a:lnTo>
                <a:arcTo hR="203190" wR="203190" stAng="16200000" swAng="5400000"/>
                <a:lnTo>
                  <a:pt x="406380" y="203190"/>
                </a:lnTo>
                <a:arcTo hR="203190" wR="203190" stAng="0" swAng="5400000"/>
                <a:lnTo>
                  <a:pt x="203190" y="406380"/>
                </a:lnTo>
                <a:arcTo hR="203190" wR="203190" stAng="5400000" swAng="5400000"/>
                <a:lnTo>
                  <a:pt x="0" y="203190"/>
                </a:lnTo>
                <a:arcTo hR="203190" wR="203190" stAng="10800000" swAng="5400000"/>
                <a:close/>
              </a:path>
            </a:pathLst>
          </a:custGeom>
          <a:solidFill>
            <a:srgbClr val="F5B84B"/>
          </a:solidFill>
          <a:ln/>
        </p:spPr>
        <p:txBody>
          <a:bodyPr wrap="square" lIns="0" tIns="0" rIns="0" bIns="0" rtlCol="0" anchor="t">
            <a:normAutofit/>
          </a:bodyPr>
          <a:lstStyle/>
          <a:p>
            <a:pPr algn="ctr" indent="0" marL="0">
              <a:lnSpc>
                <a:spcPts val="3200"/>
              </a:lnSpc>
              <a:buNone/>
            </a:pPr>
            <a:r>
              <a:rPr lang="en-US" sz="1600" b="1" dirty="0">
                <a:solidFill>
                  <a:srgbClr val="0E1726"/>
                </a:solidFill>
                <a:latin typeface="DM Sans" pitchFamily="34" charset="0"/>
                <a:ea typeface="DM Sans" pitchFamily="34" charset="-122"/>
                <a:cs typeface="DM Sans" pitchFamily="34" charset="-120"/>
              </a:rPr>
              <a:t>4</a:t>
            </a:r>
            <a:endParaRPr lang="en-US" sz="1600" dirty="0"/>
          </a:p>
        </p:txBody>
      </p:sp>
      <p:sp>
        <p:nvSpPr>
          <p:cNvPr id="20" name="Text 18"/>
          <p:cNvSpPr/>
          <p:nvPr/>
        </p:nvSpPr>
        <p:spPr>
          <a:xfrm>
            <a:off x="1628755" y="4650011"/>
            <a:ext cx="5042746"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3F5F7"/>
                </a:solidFill>
                <a:latin typeface="DM Sans" pitchFamily="34" charset="0"/>
                <a:ea typeface="DM Sans" pitchFamily="34" charset="-122"/>
                <a:cs typeface="DM Sans" pitchFamily="34" charset="-120"/>
              </a:rPr>
              <a:t>Verify HTTPS</a:t>
            </a:r>
            <a:endParaRPr lang="en-US" sz="1600" dirty="0"/>
          </a:p>
        </p:txBody>
      </p:sp>
      <p:sp>
        <p:nvSpPr>
          <p:cNvPr id="21" name="Text 19"/>
          <p:cNvSpPr/>
          <p:nvPr/>
        </p:nvSpPr>
        <p:spPr>
          <a:xfrm>
            <a:off x="1628755" y="4931866"/>
            <a:ext cx="5042746" cy="256548"/>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A9B8CC"/>
                </a:solidFill>
                <a:latin typeface="DM Sans" pitchFamily="34" charset="0"/>
                <a:ea typeface="DM Sans" pitchFamily="34" charset="-122"/>
                <a:cs typeface="DM Sans" pitchFamily="34" charset="-120"/>
              </a:rPr>
              <a:t>Confirm port 443 and a 200 OK response</a:t>
            </a:r>
            <a:endParaRPr lang="en-US" sz="1300" dirty="0"/>
          </a:p>
        </p:txBody>
      </p:sp>
      <p:sp>
        <p:nvSpPr>
          <p:cNvPr id="22" name="Text 20"/>
          <p:cNvSpPr/>
          <p:nvPr/>
        </p:nvSpPr>
        <p:spPr>
          <a:xfrm>
            <a:off x="6727815" y="4360518"/>
            <a:ext cx="4445000" cy="1092038"/>
          </a:xfrm>
          <a:prstGeom prst="roundRect">
            <a:avLst>
              <a:gd name="adj" fmla="val 6978"/>
            </a:avLst>
          </a:prstGeom>
          <a:solidFill>
            <a:srgbClr val="0A111D"/>
          </a:solidFill>
          <a:ln/>
        </p:spPr>
        <p:txBody>
          <a:bodyPr wrap="square" lIns="104682" tIns="66582" rIns="0" bIns="41141" rtlCol="0" anchor="t">
            <a:normAutofit/>
          </a:bodyPr>
          <a:lstStyle/>
          <a:p>
            <a:pPr algn="l" indent="0" marL="0">
              <a:lnSpc>
                <a:spcPts val="1800"/>
              </a:lnSpc>
              <a:buNone/>
            </a:pPr>
            <a:r>
              <a:rPr lang="en-US" sz="1200" dirty="0">
                <a:solidFill>
                  <a:srgbClr val="5EEAD4"/>
                </a:solidFill>
                <a:latin typeface="JetBrains Mono" pitchFamily="49" charset="0"/>
                <a:ea typeface="JetBrains Mono" pitchFamily="49" charset="-122"/>
                <a:cs typeface="JetBrains Mono" pitchFamily="49" charset="-120"/>
              </a:rPr>
              <a:t>ss -ltnp | grep ':443'</a:t>
            </a:r>
            <a:endParaRPr lang="en-US" sz="1200" dirty="0"/>
          </a:p>
          <a:p>
            <a:pPr algn="l" indent="0" marL="0">
              <a:lnSpc>
                <a:spcPts val="1800"/>
              </a:lnSpc>
              <a:buNone/>
            </a:pPr>
            <a:r>
              <a:rPr lang="en-US" sz="1200" dirty="0">
                <a:solidFill>
                  <a:srgbClr val="5EEAD4"/>
                </a:solidFill>
                <a:latin typeface="JetBrains Mono" pitchFamily="49" charset="0"/>
                <a:ea typeface="JetBrains Mono" pitchFamily="49" charset="-122"/>
                <a:cs typeface="JetBrains Mono" pitchFamily="49" charset="-120"/>
              </a:rPr>
              <a:t>curl -kI https://localhost/http_password_capture/index.html</a:t>
            </a:r>
            <a:endParaRPr lang="en-US" sz="1200" dirty="0"/>
          </a:p>
        </p:txBody>
      </p:sp>
      <p:sp>
        <p:nvSpPr>
          <p:cNvPr id="23" name="Text 21"/>
          <p:cNvSpPr/>
          <p:nvPr/>
        </p:nvSpPr>
        <p:spPr>
          <a:xfrm>
            <a:off x="812760" y="6238320"/>
            <a:ext cx="7194550" cy="23870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C"/>
                </a:solidFill>
                <a:latin typeface="DM Sans" pitchFamily="34" charset="0"/>
                <a:ea typeface="DM Sans" pitchFamily="34" charset="-122"/>
                <a:cs typeface="DM Sans" pitchFamily="34" charset="-120"/>
              </a:rPr>
              <a:t>HTTP vs HTTPS Password Capture · Cyber Security Internship</a:t>
            </a:r>
            <a:endParaRPr lang="en-US" sz="1200" dirty="0"/>
          </a:p>
        </p:txBody>
      </p:sp>
      <p:sp>
        <p:nvSpPr>
          <p:cNvPr id="24" name="Text 22"/>
          <p:cNvSpPr/>
          <p:nvPr/>
        </p:nvSpPr>
        <p:spPr>
          <a:xfrm>
            <a:off x="9417090" y="6238320"/>
            <a:ext cx="1962150" cy="23870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8CC"/>
                </a:solidFill>
                <a:latin typeface="DM Sans" pitchFamily="34" charset="0"/>
                <a:ea typeface="DM Sans" pitchFamily="34" charset="-122"/>
                <a:cs typeface="DM Sans" pitchFamily="34" charset="-120"/>
              </a:rPr>
              <a:t>07 / 10</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5F7"/>
        </a:solidFill>
      </p:bgPr>
    </p:bg>
    <p:spTree>
      <p:nvGrpSpPr>
        <p:cNvPr id="1" name=""/>
        <p:cNvGrpSpPr/>
        <p:nvPr/>
      </p:nvGrpSpPr>
      <p:grpSpPr>
        <a:xfrm>
          <a:off x="0" y="0"/>
          <a:ext cx="0" cy="0"/>
          <a:chOff x="0" y="0"/>
          <a:chExt cx="0" cy="0"/>
        </a:xfrm>
      </p:grpSpPr>
      <p:sp>
        <p:nvSpPr>
          <p:cNvPr id="2" name="Text 0"/>
          <p:cNvSpPr/>
          <p:nvPr>
            <p:ph type="title"/>
          </p:nvPr>
        </p:nvSpPr>
        <p:spPr>
          <a:xfrm>
            <a:off x="812760" y="812760"/>
            <a:ext cx="10883476" cy="49270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0E1726"/>
                </a:solidFill>
                <a:latin typeface="DM Sans" pitchFamily="34" charset="0"/>
                <a:ea typeface="DM Sans" pitchFamily="34" charset="-122"/>
                <a:cs typeface="DM Sans" pitchFamily="34" charset="-120"/>
              </a:rPr>
              <a:t>Results: HTTP vs HTTPS</a:t>
            </a:r>
            <a:endParaRPr lang="en-US" sz="32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22467" y="1492959"/>
          <a:ext cx="10556774" cy="2494296"/>
        </p:xfrm>
        <a:graphic>
          <a:graphicData uri="http://schemas.openxmlformats.org/drawingml/2006/table">
            <a:tbl>
              <a:tblPr/>
              <a:tblGrid>
                <a:gridCol w="2533626"/>
                <a:gridCol w="3800439"/>
                <a:gridCol w="4222710"/>
              </a:tblGrid>
              <a:tr h="356328">
                <a:tc>
                  <a:txBody>
                    <a:bodyPr/>
                    <a:lstStyle/>
                    <a:p>
                      <a:pPr indent="0" marL="0">
                        <a:lnSpc>
                          <a:spcPts val="1820"/>
                        </a:lnSpc>
                        <a:buNone/>
                      </a:pPr>
                      <a:r>
                        <a:rPr lang="en-US" sz="1300" b="1" dirty="0">
                          <a:solidFill>
                            <a:srgbClr val="F3F5F7"/>
                          </a:solidFill>
                          <a:latin typeface="DM Sans" pitchFamily="34" charset="0"/>
                          <a:ea typeface="DM Sans" pitchFamily="34" charset="-122"/>
                          <a:cs typeface="DM Sans" pitchFamily="34" charset="-120"/>
                        </a:rPr>
                        <a:t>Parameter</a:t>
                      </a:r>
                      <a:endParaRPr lang="en-US" sz="1300" dirty="0">
                        <a:latin typeface="DM Sans" charset="0"/>
                        <a:ea typeface="DM Sans" charset="0"/>
                        <a:cs typeface="DM Sans" charset="0"/>
                      </a:endParaRPr>
                    </a:p>
                  </a:txBody>
                  <a:tcPr marL="57785" marR="57785" marT="57785" marB="57785" anchor="t">
                    <a:lnL w="12700" cap="flat" cmpd="sng" algn="ctr">
                      <a:solidFill>
                        <a:srgbClr val="C2C4C5"/>
                      </a:solidFill>
                      <a:prstDash val="solid"/>
                      <a:round/>
                      <a:headEnd type="none" w="med" len="med"/>
                      <a:tailEnd type="none" w="med" len="med"/>
                    </a:lnL>
                    <a:lnR w="12700" cap="flat" cmpd="sng" algn="ctr">
                      <a:solidFill>
                        <a:srgbClr val="0F1622"/>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0F1622"/>
                      </a:solidFill>
                      <a:prstDash val="solid"/>
                      <a:round/>
                      <a:headEnd type="none" w="med" len="med"/>
                      <a:tailEnd type="none" w="med" len="med"/>
                    </a:lnB>
                    <a:solidFill>
                      <a:srgbClr val="0E1726"/>
                    </a:solidFill>
                  </a:tcPr>
                </a:tc>
                <a:tc>
                  <a:txBody>
                    <a:bodyPr/>
                    <a:lstStyle/>
                    <a:p>
                      <a:pPr indent="0" marL="0">
                        <a:lnSpc>
                          <a:spcPts val="1820"/>
                        </a:lnSpc>
                        <a:buNone/>
                      </a:pPr>
                      <a:r>
                        <a:rPr lang="en-US" sz="1300" b="1" dirty="0">
                          <a:solidFill>
                            <a:srgbClr val="F5B84B"/>
                          </a:solidFill>
                          <a:latin typeface="DM Sans" pitchFamily="34" charset="0"/>
                          <a:ea typeface="DM Sans" pitchFamily="34" charset="-122"/>
                          <a:cs typeface="DM Sans" pitchFamily="34" charset="-120"/>
                        </a:rPr>
                        <a:t>HTTP (Port 80)</a:t>
                      </a:r>
                      <a:endParaRPr lang="en-US" sz="1300" dirty="0">
                        <a:latin typeface="DM Sans" charset="0"/>
                        <a:ea typeface="DM Sans" charset="0"/>
                        <a:cs typeface="DM Sans" charset="0"/>
                      </a:endParaRPr>
                    </a:p>
                  </a:txBody>
                  <a:tcPr marL="57785" marR="57785" marT="57785" marB="57785" anchor="t">
                    <a:lnL w="12700" cap="flat" cmpd="sng" algn="ctr">
                      <a:solidFill>
                        <a:srgbClr val="0F1622"/>
                      </a:solidFill>
                      <a:prstDash val="solid"/>
                      <a:round/>
                      <a:headEnd type="none" w="med" len="med"/>
                      <a:tailEnd type="none" w="med" len="med"/>
                    </a:lnL>
                    <a:lnR w="12700" cap="flat" cmpd="sng" algn="ctr">
                      <a:solidFill>
                        <a:srgbClr val="0F1622"/>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0F1622"/>
                      </a:solidFill>
                      <a:prstDash val="solid"/>
                      <a:round/>
                      <a:headEnd type="none" w="med" len="med"/>
                      <a:tailEnd type="none" w="med" len="med"/>
                    </a:lnB>
                    <a:solidFill>
                      <a:srgbClr val="0E1726"/>
                    </a:solidFill>
                  </a:tcPr>
                </a:tc>
                <a:tc>
                  <a:txBody>
                    <a:bodyPr/>
                    <a:lstStyle/>
                    <a:p>
                      <a:pPr indent="0" marL="0">
                        <a:lnSpc>
                          <a:spcPts val="1820"/>
                        </a:lnSpc>
                        <a:buNone/>
                      </a:pPr>
                      <a:r>
                        <a:rPr lang="en-US" sz="1300" b="1" dirty="0">
                          <a:solidFill>
                            <a:srgbClr val="5EEAD4"/>
                          </a:solidFill>
                          <a:latin typeface="DM Sans" pitchFamily="34" charset="0"/>
                          <a:ea typeface="DM Sans" pitchFamily="34" charset="-122"/>
                          <a:cs typeface="DM Sans" pitchFamily="34" charset="-120"/>
                        </a:rPr>
                        <a:t>HTTPS (Port 443)</a:t>
                      </a:r>
                      <a:endParaRPr lang="en-US" sz="1300" dirty="0">
                        <a:latin typeface="DM Sans" charset="0"/>
                        <a:ea typeface="DM Sans" charset="0"/>
                        <a:cs typeface="DM Sans" charset="0"/>
                      </a:endParaRPr>
                    </a:p>
                  </a:txBody>
                  <a:tcPr marL="57785" marR="57785" marT="57785" marB="57785" anchor="t">
                    <a:lnL w="12700" cap="flat" cmpd="sng" algn="ctr">
                      <a:solidFill>
                        <a:srgbClr val="0F1622"/>
                      </a:solidFill>
                      <a:prstDash val="solid"/>
                      <a:round/>
                      <a:headEnd type="none" w="med" len="med"/>
                      <a:tailEnd type="none" w="med" len="med"/>
                    </a:lnL>
                    <a:lnR w="12700" cap="flat" cmpd="sng" algn="ctr">
                      <a:solidFill>
                        <a:srgbClr val="0F1622"/>
                      </a:solidFill>
                      <a:prstDash val="solid"/>
                      <a:round/>
                      <a:headEnd type="none" w="med" len="med"/>
                      <a:tailEnd type="none" w="med" len="med"/>
                    </a:lnR>
                    <a:lnT w="12700" cap="flat" cmpd="sng" algn="ctr">
                      <a:solidFill>
                        <a:srgbClr val="C2C4C5"/>
                      </a:solidFill>
                      <a:prstDash val="solid"/>
                      <a:round/>
                      <a:headEnd type="none" w="med" len="med"/>
                      <a:tailEnd type="none" w="med" len="med"/>
                    </a:lnT>
                    <a:lnB w="12700" cap="flat" cmpd="sng" algn="ctr">
                      <a:solidFill>
                        <a:srgbClr val="0F1622"/>
                      </a:solidFill>
                      <a:prstDash val="solid"/>
                      <a:round/>
                      <a:headEnd type="none" w="med" len="med"/>
                      <a:tailEnd type="none" w="med" len="med"/>
                    </a:lnB>
                    <a:solidFill>
                      <a:srgbClr val="0E1726"/>
                    </a:solidFill>
                  </a:tcPr>
                </a:tc>
              </a:tr>
              <a:tr h="356328">
                <a:tc>
                  <a:txBody>
                    <a:bodyPr/>
                    <a:lstStyle/>
                    <a:p>
                      <a:pPr indent="0" marL="0">
                        <a:lnSpc>
                          <a:spcPts val="1820"/>
                        </a:lnSpc>
                        <a:buNone/>
                      </a:pPr>
                      <a:r>
                        <a:rPr lang="en-US" sz="1300" dirty="0">
                          <a:solidFill>
                            <a:srgbClr val="0E1726"/>
                          </a:solidFill>
                          <a:latin typeface="DM Sans" pitchFamily="34" charset="0"/>
                          <a:ea typeface="DM Sans" pitchFamily="34" charset="-122"/>
                          <a:cs typeface="DM Sans" pitchFamily="34" charset="-120"/>
                        </a:rPr>
                        <a:t>Data on the wire</a:t>
                      </a:r>
                      <a:endParaRPr lang="en-US" sz="1300" dirty="0">
                        <a:latin typeface="DM Sans" charset="0"/>
                        <a:ea typeface="DM Sans" charset="0"/>
                        <a:cs typeface="DM Sans" charset="0"/>
                      </a:endParaRPr>
                    </a:p>
                  </a:txBody>
                  <a:tcPr marL="57785" marR="57785" marT="57785" marB="57785" anchor="t">
                    <a:lnL w="12700" cap="flat" cmpd="sng" algn="ctr">
                      <a:solidFill>
                        <a:srgbClr val="C2C4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F162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0E1726"/>
                          </a:solidFill>
                          <a:latin typeface="DM Sans" pitchFamily="34" charset="0"/>
                          <a:ea typeface="DM Sans" pitchFamily="34" charset="-122"/>
                          <a:cs typeface="DM Sans" pitchFamily="34" charset="-120"/>
                        </a:rPr>
                        <a:t>Plaintext</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F162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0E1726"/>
                          </a:solidFill>
                          <a:latin typeface="DM Sans" pitchFamily="34" charset="0"/>
                          <a:ea typeface="DM Sans" pitchFamily="34" charset="-122"/>
                          <a:cs typeface="DM Sans" pitchFamily="34" charset="-120"/>
                        </a:rPr>
                        <a:t>Encrypted (TLS 1.3)</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0F1622"/>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6328">
                <a:tc>
                  <a:txBody>
                    <a:bodyPr/>
                    <a:lstStyle/>
                    <a:p>
                      <a:pPr indent="0" marL="0">
                        <a:lnSpc>
                          <a:spcPts val="1820"/>
                        </a:lnSpc>
                        <a:buNone/>
                      </a:pPr>
                      <a:r>
                        <a:rPr lang="en-US" sz="1300" dirty="0">
                          <a:solidFill>
                            <a:srgbClr val="0E1726"/>
                          </a:solidFill>
                          <a:latin typeface="DM Sans" pitchFamily="34" charset="0"/>
                          <a:ea typeface="DM Sans" pitchFamily="34" charset="-122"/>
                          <a:cs typeface="DM Sans" pitchFamily="34" charset="-120"/>
                        </a:rPr>
                        <a:t>Username, password</a:t>
                      </a:r>
                      <a:endParaRPr lang="en-US" sz="1300" dirty="0">
                        <a:latin typeface="DM Sans" charset="0"/>
                        <a:ea typeface="DM Sans" charset="0"/>
                        <a:cs typeface="DM Sans" charset="0"/>
                      </a:endParaRPr>
                    </a:p>
                  </a:txBody>
                  <a:tcPr marL="57785" marR="57785" marT="57785" marB="57785" anchor="t">
                    <a:lnL w="12700" cap="flat" cmpd="sng" algn="ctr">
                      <a:solidFill>
                        <a:srgbClr val="C2C4C5"/>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7ECF1"/>
                    </a:solidFill>
                  </a:tcPr>
                </a:tc>
                <a:tc>
                  <a:txBody>
                    <a:bodyPr/>
                    <a:lstStyle/>
                    <a:p>
                      <a:pPr indent="0" marL="0">
                        <a:lnSpc>
                          <a:spcPts val="1820"/>
                        </a:lnSpc>
                        <a:buNone/>
                      </a:pPr>
                      <a:r>
                        <a:rPr lang="en-US" sz="1300" dirty="0">
                          <a:solidFill>
                            <a:srgbClr val="0E1726"/>
                          </a:solidFill>
                          <a:latin typeface="DM Sans" pitchFamily="34" charset="0"/>
                          <a:ea typeface="DM Sans" pitchFamily="34" charset="-122"/>
                          <a:cs typeface="DM Sans" pitchFamily="34" charset="-120"/>
                        </a:rPr>
                        <a:t>Fully visible in capture</a:t>
                      </a:r>
                      <a:endParaRPr lang="en-US" sz="1300" dirty="0">
                        <a:latin typeface="DM Sans" charset="0"/>
                        <a:ea typeface="DM Sans" charset="0"/>
                        <a:cs typeface="DM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7ECF1"/>
                    </a:solidFill>
                  </a:tcPr>
                </a:tc>
                <a:tc>
                  <a:txBody>
                    <a:bodyPr/>
                    <a:lstStyle/>
                    <a:p>
                      <a:pPr indent="0" marL="0">
                        <a:lnSpc>
                          <a:spcPts val="1820"/>
                        </a:lnSpc>
                        <a:buNone/>
                      </a:pPr>
                      <a:r>
                        <a:rPr lang="en-US" sz="1300" dirty="0">
                          <a:solidFill>
                            <a:srgbClr val="0E1726"/>
                          </a:solidFill>
                          <a:latin typeface="DM Sans" pitchFamily="34" charset="0"/>
                          <a:ea typeface="DM Sans" pitchFamily="34" charset="-122"/>
                          <a:cs typeface="DM Sans" pitchFamily="34" charset="-120"/>
                        </a:rPr>
                        <a:t>Not visible, only encrypted data</a:t>
                      </a:r>
                      <a:endParaRPr lang="en-US" sz="1300" dirty="0">
                        <a:latin typeface="DM Sans" charset="0"/>
                        <a:ea typeface="DM Sans" charset="0"/>
                        <a:cs typeface="DM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7ECF1"/>
                    </a:solidFill>
                  </a:tcPr>
                </a:tc>
              </a:tr>
              <a:tr h="356328">
                <a:tc>
                  <a:txBody>
                    <a:bodyPr/>
                    <a:lstStyle/>
                    <a:p>
                      <a:pPr indent="0" marL="0">
                        <a:lnSpc>
                          <a:spcPts val="1820"/>
                        </a:lnSpc>
                        <a:buNone/>
                      </a:pPr>
                      <a:r>
                        <a:rPr lang="en-US" sz="1300" dirty="0">
                          <a:solidFill>
                            <a:srgbClr val="0E1726"/>
                          </a:solidFill>
                          <a:latin typeface="DM Sans" pitchFamily="34" charset="0"/>
                          <a:ea typeface="DM Sans" pitchFamily="34" charset="-122"/>
                          <a:cs typeface="DM Sans" pitchFamily="34" charset="-120"/>
                        </a:rPr>
                        <a:t>Wireshark shows</a:t>
                      </a:r>
                      <a:endParaRPr lang="en-US" sz="1300" dirty="0">
                        <a:latin typeface="DM Sans" charset="0"/>
                        <a:ea typeface="DM Sans" charset="0"/>
                        <a:cs typeface="DM Sans" charset="0"/>
                      </a:endParaRPr>
                    </a:p>
                  </a:txBody>
                  <a:tcPr marL="57785" marR="57785" marT="57785" marB="57785" anchor="t">
                    <a:lnL w="12700" cap="flat" cmpd="sng" algn="ctr">
                      <a:solidFill>
                        <a:srgbClr val="C2C4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0E1726"/>
                          </a:solidFill>
                          <a:latin typeface="DM Sans" pitchFamily="34" charset="0"/>
                          <a:ea typeface="DM Sans" pitchFamily="34" charset="-122"/>
                          <a:cs typeface="DM Sans" pitchFamily="34" charset="-120"/>
                        </a:rPr>
                        <a:t>HTTP GET and POST</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0E1726"/>
                          </a:solidFill>
                          <a:latin typeface="DM Sans" pitchFamily="34" charset="0"/>
                          <a:ea typeface="DM Sans" pitchFamily="34" charset="-122"/>
                          <a:cs typeface="DM Sans" pitchFamily="34" charset="-120"/>
                        </a:rPr>
                        <a:t>TLS handshake, encrypted data</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6328">
                <a:tc>
                  <a:txBody>
                    <a:bodyPr/>
                    <a:lstStyle/>
                    <a:p>
                      <a:pPr indent="0" marL="0">
                        <a:lnSpc>
                          <a:spcPts val="1820"/>
                        </a:lnSpc>
                        <a:buNone/>
                      </a:pPr>
                      <a:r>
                        <a:rPr lang="en-US" sz="1300" dirty="0">
                          <a:solidFill>
                            <a:srgbClr val="0E1726"/>
                          </a:solidFill>
                          <a:latin typeface="DM Sans" pitchFamily="34" charset="0"/>
                          <a:ea typeface="DM Sans" pitchFamily="34" charset="-122"/>
                          <a:cs typeface="DM Sans" pitchFamily="34" charset="-120"/>
                        </a:rPr>
                        <a:t>curl -kI check</a:t>
                      </a:r>
                      <a:endParaRPr lang="en-US" sz="1300" dirty="0">
                        <a:latin typeface="DM Sans" charset="0"/>
                        <a:ea typeface="DM Sans" charset="0"/>
                        <a:cs typeface="DM Sans" charset="0"/>
                      </a:endParaRPr>
                    </a:p>
                  </a:txBody>
                  <a:tcPr marL="57785" marR="57785" marT="57785" marB="57785" anchor="t">
                    <a:lnL w="12700" cap="flat" cmpd="sng" algn="ctr">
                      <a:solidFill>
                        <a:srgbClr val="C2C4C5"/>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7ECF1"/>
                    </a:solidFill>
                  </a:tcPr>
                </a:tc>
                <a:tc>
                  <a:txBody>
                    <a:bodyPr/>
                    <a:lstStyle/>
                    <a:p>
                      <a:pPr indent="0" marL="0">
                        <a:lnSpc>
                          <a:spcPts val="1820"/>
                        </a:lnSpc>
                        <a:buNone/>
                      </a:pPr>
                      <a:r>
                        <a:rPr lang="en-US" sz="1300" dirty="0">
                          <a:solidFill>
                            <a:srgbClr val="0E1726"/>
                          </a:solidFill>
                          <a:latin typeface="DM Sans" pitchFamily="34" charset="0"/>
                          <a:ea typeface="DM Sans" pitchFamily="34" charset="-122"/>
                          <a:cs typeface="DM Sans" pitchFamily="34" charset="-120"/>
                        </a:rPr>
                        <a:t>Not applicable</a:t>
                      </a:r>
                      <a:endParaRPr lang="en-US" sz="1300" dirty="0">
                        <a:latin typeface="DM Sans" charset="0"/>
                        <a:ea typeface="DM Sans" charset="0"/>
                        <a:cs typeface="DM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7ECF1"/>
                    </a:solidFill>
                  </a:tcPr>
                </a:tc>
                <a:tc>
                  <a:txBody>
                    <a:bodyPr/>
                    <a:lstStyle/>
                    <a:p>
                      <a:pPr indent="0" marL="0">
                        <a:lnSpc>
                          <a:spcPts val="1820"/>
                        </a:lnSpc>
                        <a:buNone/>
                      </a:pPr>
                      <a:r>
                        <a:rPr lang="en-US" sz="1300" dirty="0">
                          <a:solidFill>
                            <a:srgbClr val="0E1726"/>
                          </a:solidFill>
                          <a:latin typeface="DM Sans" pitchFamily="34" charset="0"/>
                          <a:ea typeface="DM Sans" pitchFamily="34" charset="-122"/>
                          <a:cs typeface="DM Sans" pitchFamily="34" charset="-120"/>
                        </a:rPr>
                        <a:t>200 OK over TLS</a:t>
                      </a:r>
                      <a:endParaRPr lang="en-US" sz="1300" dirty="0">
                        <a:latin typeface="DM Sans" charset="0"/>
                        <a:ea typeface="DM Sans" charset="0"/>
                        <a:cs typeface="DM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7ECF1"/>
                    </a:solidFill>
                  </a:tcPr>
                </a:tc>
              </a:tr>
              <a:tr h="356328">
                <a:tc>
                  <a:txBody>
                    <a:bodyPr/>
                    <a:lstStyle/>
                    <a:p>
                      <a:pPr indent="0" marL="0">
                        <a:lnSpc>
                          <a:spcPts val="1820"/>
                        </a:lnSpc>
                        <a:buNone/>
                      </a:pPr>
                      <a:r>
                        <a:rPr lang="en-US" sz="1300" dirty="0">
                          <a:solidFill>
                            <a:srgbClr val="0E1726"/>
                          </a:solidFill>
                          <a:latin typeface="DM Sans" pitchFamily="34" charset="0"/>
                          <a:ea typeface="DM Sans" pitchFamily="34" charset="-122"/>
                          <a:cs typeface="DM Sans" pitchFamily="34" charset="-120"/>
                        </a:rPr>
                        <a:t>Certificate</a:t>
                      </a:r>
                      <a:endParaRPr lang="en-US" sz="1300" dirty="0">
                        <a:latin typeface="DM Sans" charset="0"/>
                        <a:ea typeface="DM Sans" charset="0"/>
                        <a:cs typeface="DM Sans" charset="0"/>
                      </a:endParaRPr>
                    </a:p>
                  </a:txBody>
                  <a:tcPr marL="57785" marR="57785" marT="57785" marB="57785" anchor="t">
                    <a:lnL w="12700" cap="flat" cmpd="sng" algn="ctr">
                      <a:solidFill>
                        <a:srgbClr val="C2C4C5"/>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0E1726"/>
                          </a:solidFill>
                          <a:latin typeface="DM Sans" pitchFamily="34" charset="0"/>
                          <a:ea typeface="DM Sans" pitchFamily="34" charset="-122"/>
                          <a:cs typeface="DM Sans" pitchFamily="34" charset="-120"/>
                        </a:rPr>
                        <a:t>None</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0E1726"/>
                          </a:solidFill>
                          <a:latin typeface="DM Sans" pitchFamily="34" charset="0"/>
                          <a:ea typeface="DM Sans" pitchFamily="34" charset="-122"/>
                          <a:cs typeface="DM Sans" pitchFamily="34" charset="-120"/>
                        </a:rPr>
                        <a:t>Self-signed, browser warns</a:t>
                      </a:r>
                      <a:endParaRPr lang="en-US" sz="1300" dirty="0">
                        <a:latin typeface="DM Sans" charset="0"/>
                        <a:ea typeface="DM Sans" charset="0"/>
                        <a:cs typeface="DM Sans" charset="0"/>
                      </a:endParaRPr>
                    </a:p>
                  </a:txBody>
                  <a:tcPr marL="57785" marR="57785" marT="57785" marB="57785"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9BCC0"/>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356328">
                <a:tc>
                  <a:txBody>
                    <a:bodyPr/>
                    <a:lstStyle/>
                    <a:p>
                      <a:pPr indent="0" marL="0">
                        <a:lnSpc>
                          <a:spcPts val="1820"/>
                        </a:lnSpc>
                        <a:buNone/>
                      </a:pPr>
                      <a:r>
                        <a:rPr lang="en-US" sz="1300" dirty="0">
                          <a:solidFill>
                            <a:srgbClr val="0E1726"/>
                          </a:solidFill>
                          <a:latin typeface="DM Sans" pitchFamily="34" charset="0"/>
                          <a:ea typeface="DM Sans" pitchFamily="34" charset="-122"/>
                          <a:cs typeface="DM Sans" pitchFamily="34" charset="-120"/>
                        </a:rPr>
                        <a:t>Credential theft risk</a:t>
                      </a:r>
                      <a:endParaRPr lang="en-US" sz="1300" dirty="0">
                        <a:latin typeface="DM Sans" charset="0"/>
                        <a:ea typeface="DM Sans" charset="0"/>
                        <a:cs typeface="DM Sans" charset="0"/>
                      </a:endParaRPr>
                    </a:p>
                  </a:txBody>
                  <a:tcPr marL="57785" marR="57785" marT="57785" marB="57785" anchor="t">
                    <a:lnL w="12700" cap="flat" cmpd="sng" algn="ctr">
                      <a:solidFill>
                        <a:srgbClr val="C2C4C5"/>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7ECF1"/>
                    </a:solidFill>
                  </a:tcPr>
                </a:tc>
                <a:tc>
                  <a:txBody>
                    <a:bodyPr/>
                    <a:lstStyle/>
                    <a:p>
                      <a:pPr indent="0" marL="0">
                        <a:lnSpc>
                          <a:spcPts val="1820"/>
                        </a:lnSpc>
                        <a:buNone/>
                      </a:pPr>
                      <a:r>
                        <a:rPr lang="en-US" sz="1300" dirty="0">
                          <a:solidFill>
                            <a:srgbClr val="0E1726"/>
                          </a:solidFill>
                          <a:latin typeface="DM Sans" pitchFamily="34" charset="0"/>
                          <a:ea typeface="DM Sans" pitchFamily="34" charset="-122"/>
                          <a:cs typeface="DM Sans" pitchFamily="34" charset="-120"/>
                        </a:rPr>
                        <a:t>High</a:t>
                      </a:r>
                      <a:endParaRPr lang="en-US" sz="1300" dirty="0">
                        <a:latin typeface="DM Sans" charset="0"/>
                        <a:ea typeface="DM Sans" charset="0"/>
                        <a:cs typeface="DM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7ECF1"/>
                    </a:solidFill>
                  </a:tcPr>
                </a:tc>
                <a:tc>
                  <a:txBody>
                    <a:bodyPr/>
                    <a:lstStyle/>
                    <a:p>
                      <a:pPr indent="0" marL="0">
                        <a:lnSpc>
                          <a:spcPts val="1820"/>
                        </a:lnSpc>
                        <a:buNone/>
                      </a:pPr>
                      <a:r>
                        <a:rPr lang="en-US" sz="1300" dirty="0">
                          <a:solidFill>
                            <a:srgbClr val="0E1726"/>
                          </a:solidFill>
                          <a:latin typeface="DM Sans" pitchFamily="34" charset="0"/>
                          <a:ea typeface="DM Sans" pitchFamily="34" charset="-122"/>
                          <a:cs typeface="DM Sans" pitchFamily="34" charset="-120"/>
                        </a:rPr>
                        <a:t>Low</a:t>
                      </a:r>
                      <a:endParaRPr lang="en-US" sz="1300" dirty="0">
                        <a:latin typeface="DM Sans" charset="0"/>
                        <a:ea typeface="DM Sans" charset="0"/>
                        <a:cs typeface="DM Sans" charset="0"/>
                      </a:endParaRPr>
                    </a:p>
                  </a:txBody>
                  <a:tcPr marL="57785" marR="57785" marT="57785" marB="57785" anchor="t">
                    <a:lnL w="12700" cap="flat" cmpd="sng" algn="ctr">
                      <a:solidFill>
                        <a:srgbClr val="B9BCC0"/>
                      </a:solidFill>
                      <a:prstDash val="solid"/>
                      <a:round/>
                      <a:headEnd type="none" w="med" len="med"/>
                      <a:tailEnd type="none" w="med" len="med"/>
                    </a:lnL>
                    <a:lnR w="12700" cap="flat" cmpd="sng" algn="ctr">
                      <a:solidFill>
                        <a:srgbClr val="B9BCC0"/>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9BCC0"/>
                      </a:solidFill>
                      <a:prstDash val="solid"/>
                      <a:round/>
                      <a:headEnd type="none" w="med" len="med"/>
                      <a:tailEnd type="none" w="med" len="med"/>
                    </a:lnB>
                    <a:solidFill>
                      <a:srgbClr val="E7ECF1"/>
                    </a:solidFill>
                  </a:tcPr>
                </a:tc>
              </a:tr>
            </a:tbl>
          </a:graphicData>
        </a:graphic>
      </p:graphicFrame>
      <p:sp>
        <p:nvSpPr>
          <p:cNvPr id="4" name="Text 1"/>
          <p:cNvSpPr/>
          <p:nvPr/>
        </p:nvSpPr>
        <p:spPr>
          <a:xfrm>
            <a:off x="812760" y="4190442"/>
            <a:ext cx="10883476" cy="309836"/>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F766E"/>
                </a:solidFill>
                <a:latin typeface="DM Sans" pitchFamily="34" charset="0"/>
                <a:ea typeface="DM Sans" pitchFamily="34" charset="-122"/>
                <a:cs typeface="DM Sans" pitchFamily="34" charset="-120"/>
              </a:rPr>
              <a:t>Same login, same lab: only the TLS layer changed.</a:t>
            </a:r>
            <a:endParaRPr lang="en-US" sz="1600" dirty="0"/>
          </a:p>
        </p:txBody>
      </p:sp>
      <p:sp>
        <p:nvSpPr>
          <p:cNvPr id="5" name="Text 2"/>
          <p:cNvSpPr/>
          <p:nvPr/>
        </p:nvSpPr>
        <p:spPr>
          <a:xfrm>
            <a:off x="812760" y="6238317"/>
            <a:ext cx="7194550" cy="23870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A5568"/>
                </a:solidFill>
                <a:latin typeface="DM Sans" pitchFamily="34" charset="0"/>
                <a:ea typeface="DM Sans" pitchFamily="34" charset="-122"/>
                <a:cs typeface="DM Sans" pitchFamily="34" charset="-120"/>
              </a:rPr>
              <a:t>HTTP vs HTTPS Password Capture · Cyber Security Internship</a:t>
            </a:r>
            <a:endParaRPr lang="en-US" sz="1200" dirty="0"/>
          </a:p>
        </p:txBody>
      </p:sp>
      <p:sp>
        <p:nvSpPr>
          <p:cNvPr id="6" name="Text 3"/>
          <p:cNvSpPr/>
          <p:nvPr/>
        </p:nvSpPr>
        <p:spPr>
          <a:xfrm>
            <a:off x="9417090" y="6238317"/>
            <a:ext cx="1962150" cy="23870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4A5568"/>
                </a:solidFill>
                <a:latin typeface="DM Sans" pitchFamily="34" charset="0"/>
                <a:ea typeface="DM Sans" pitchFamily="34" charset="-122"/>
                <a:cs typeface="DM Sans" pitchFamily="34" charset="-120"/>
              </a:rPr>
              <a:t>08 / 10</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726"/>
        </a:solidFill>
      </p:bgPr>
    </p:bg>
    <p:spTree>
      <p:nvGrpSpPr>
        <p:cNvPr id="1" name=""/>
        <p:cNvGrpSpPr/>
        <p:nvPr/>
      </p:nvGrpSpPr>
      <p:grpSpPr>
        <a:xfrm>
          <a:off x="0" y="0"/>
          <a:ext cx="0" cy="0"/>
          <a:chOff x="0" y="0"/>
          <a:chExt cx="0" cy="0"/>
        </a:xfrm>
      </p:grpSpPr>
      <p:sp>
        <p:nvSpPr>
          <p:cNvPr id="2" name="Text 0"/>
          <p:cNvSpPr/>
          <p:nvPr>
            <p:ph type="title"/>
          </p:nvPr>
        </p:nvSpPr>
        <p:spPr>
          <a:xfrm>
            <a:off x="812760" y="812763"/>
            <a:ext cx="10883476" cy="49270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3F5F7"/>
                </a:solidFill>
                <a:latin typeface="DM Sans" pitchFamily="34" charset="0"/>
                <a:ea typeface="DM Sans" pitchFamily="34" charset="-122"/>
                <a:cs typeface="DM Sans" pitchFamily="34" charset="-120"/>
              </a:rPr>
              <a:t>Challenges and Learning Outcomes</a:t>
            </a:r>
            <a:endParaRPr lang="en-US" sz="3200" dirty="0"/>
          </a:p>
        </p:txBody>
      </p:sp>
      <p:sp>
        <p:nvSpPr>
          <p:cNvPr id="3" name="Shape 1"/>
          <p:cNvSpPr/>
          <p:nvPr/>
        </p:nvSpPr>
        <p:spPr>
          <a:xfrm>
            <a:off x="815935" y="1511808"/>
            <a:ext cx="5708650" cy="3108588"/>
          </a:xfrm>
          <a:prstGeom prst="roundRect">
            <a:avLst>
              <a:gd name="adj" fmla="val 3166"/>
            </a:avLst>
          </a:prstGeom>
          <a:solidFill>
            <a:srgbClr val="16233A"/>
          </a:solidFill>
          <a:ln w="6350">
            <a:solidFill>
              <a:srgbClr val="24344F"/>
            </a:solidFill>
            <a:prstDash val="solid"/>
          </a:ln>
        </p:spPr>
      </p:sp>
      <p:sp>
        <p:nvSpPr>
          <p:cNvPr id="4" name="Text 2"/>
          <p:cNvSpPr/>
          <p:nvPr/>
        </p:nvSpPr>
        <p:spPr>
          <a:xfrm>
            <a:off x="1044565" y="1740440"/>
            <a:ext cx="5408931"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B84B"/>
                </a:solidFill>
                <a:latin typeface="DM Sans" pitchFamily="34" charset="0"/>
                <a:ea typeface="DM Sans" pitchFamily="34" charset="-122"/>
                <a:cs typeface="DM Sans" pitchFamily="34" charset="-120"/>
              </a:rPr>
              <a:t>Challenges and fixes</a:t>
            </a:r>
            <a:endParaRPr lang="en-US" sz="1600" dirty="0"/>
          </a:p>
        </p:txBody>
      </p:sp>
      <p:sp>
        <p:nvSpPr>
          <p:cNvPr id="5" name="Text 3"/>
          <p:cNvSpPr/>
          <p:nvPr/>
        </p:nvSpPr>
        <p:spPr>
          <a:xfrm>
            <a:off x="1044565" y="2111226"/>
            <a:ext cx="5408931" cy="27429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5F7"/>
                </a:solidFill>
                <a:latin typeface="DM Sans" pitchFamily="34" charset="0"/>
                <a:ea typeface="DM Sans" pitchFamily="34" charset="-122"/>
                <a:cs typeface="DM Sans" pitchFamily="34" charset="-120"/>
              </a:rPr>
              <a:t>Could not find httpd-ssl.conf</a:t>
            </a:r>
            <a:endParaRPr lang="en-US" sz="1400" dirty="0"/>
          </a:p>
        </p:txBody>
      </p:sp>
      <p:sp>
        <p:nvSpPr>
          <p:cNvPr id="6" name="Text 4"/>
          <p:cNvSpPr/>
          <p:nvPr/>
        </p:nvSpPr>
        <p:spPr>
          <a:xfrm>
            <a:off x="1044565" y="2372810"/>
            <a:ext cx="5408931" cy="23870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C"/>
                </a:solidFill>
                <a:latin typeface="DM Sans" pitchFamily="34" charset="0"/>
                <a:ea typeface="DM Sans" pitchFamily="34" charset="-122"/>
                <a:cs typeface="DM Sans" pitchFamily="34" charset="-120"/>
              </a:rPr>
              <a:t>Fix: used the find command on /opt/lampp/etc</a:t>
            </a:r>
            <a:endParaRPr lang="en-US" sz="1200" dirty="0"/>
          </a:p>
        </p:txBody>
      </p:sp>
      <p:sp>
        <p:nvSpPr>
          <p:cNvPr id="7" name="Text 5"/>
          <p:cNvSpPr/>
          <p:nvPr/>
        </p:nvSpPr>
        <p:spPr>
          <a:xfrm>
            <a:off x="1044565" y="2713112"/>
            <a:ext cx="5408931" cy="27429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5F7"/>
                </a:solidFill>
                <a:latin typeface="DM Sans" pitchFamily="34" charset="0"/>
                <a:ea typeface="DM Sans" pitchFamily="34" charset="-122"/>
                <a:cs typeface="DM Sans" pitchFamily="34" charset="-120"/>
              </a:rPr>
              <a:t>Unsure ssl_module was loaded</a:t>
            </a:r>
            <a:endParaRPr lang="en-US" sz="1400" dirty="0"/>
          </a:p>
        </p:txBody>
      </p:sp>
      <p:sp>
        <p:nvSpPr>
          <p:cNvPr id="8" name="Text 6"/>
          <p:cNvSpPr/>
          <p:nvPr/>
        </p:nvSpPr>
        <p:spPr>
          <a:xfrm>
            <a:off x="1044565" y="2974690"/>
            <a:ext cx="5408931" cy="23870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C"/>
                </a:solidFill>
                <a:latin typeface="DM Sans" pitchFamily="34" charset="0"/>
                <a:ea typeface="DM Sans" pitchFamily="34" charset="-122"/>
                <a:cs typeface="DM Sans" pitchFamily="34" charset="-120"/>
              </a:rPr>
              <a:t>Fix: checked with grep on httpd.conf</a:t>
            </a:r>
            <a:endParaRPr lang="en-US" sz="1200" dirty="0"/>
          </a:p>
        </p:txBody>
      </p:sp>
      <p:sp>
        <p:nvSpPr>
          <p:cNvPr id="9" name="Text 7"/>
          <p:cNvSpPr/>
          <p:nvPr/>
        </p:nvSpPr>
        <p:spPr>
          <a:xfrm>
            <a:off x="1044565" y="3314991"/>
            <a:ext cx="5408931" cy="27429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5F7"/>
                </a:solidFill>
                <a:latin typeface="DM Sans" pitchFamily="34" charset="0"/>
                <a:ea typeface="DM Sans" pitchFamily="34" charset="-122"/>
                <a:cs typeface="DM Sans" pitchFamily="34" charset="-120"/>
              </a:rPr>
              <a:t>Browser showed “Not Secure”</a:t>
            </a:r>
            <a:endParaRPr lang="en-US" sz="1400" dirty="0"/>
          </a:p>
        </p:txBody>
      </p:sp>
      <p:sp>
        <p:nvSpPr>
          <p:cNvPr id="10" name="Text 8"/>
          <p:cNvSpPr/>
          <p:nvPr/>
        </p:nvSpPr>
        <p:spPr>
          <a:xfrm>
            <a:off x="1044565" y="3576575"/>
            <a:ext cx="5408931" cy="23870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C"/>
                </a:solidFill>
                <a:latin typeface="DM Sans" pitchFamily="34" charset="0"/>
                <a:ea typeface="DM Sans" pitchFamily="34" charset="-122"/>
                <a:cs typeface="DM Sans" pitchFamily="34" charset="-120"/>
              </a:rPr>
              <a:t>Fix: expected, because the certificate is self-signed</a:t>
            </a:r>
            <a:endParaRPr lang="en-US" sz="1200" dirty="0"/>
          </a:p>
        </p:txBody>
      </p:sp>
      <p:sp>
        <p:nvSpPr>
          <p:cNvPr id="11" name="Text 9"/>
          <p:cNvSpPr/>
          <p:nvPr/>
        </p:nvSpPr>
        <p:spPr>
          <a:xfrm>
            <a:off x="1044565" y="3916877"/>
            <a:ext cx="5408931" cy="274294"/>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3F5F7"/>
                </a:solidFill>
                <a:latin typeface="DM Sans" pitchFamily="34" charset="0"/>
                <a:ea typeface="DM Sans" pitchFamily="34" charset="-122"/>
                <a:cs typeface="DM Sans" pitchFamily="34" charset="-120"/>
              </a:rPr>
              <a:t>Wrong Wireshark interface</a:t>
            </a:r>
            <a:endParaRPr lang="en-US" sz="1400" dirty="0"/>
          </a:p>
        </p:txBody>
      </p:sp>
      <p:sp>
        <p:nvSpPr>
          <p:cNvPr id="12" name="Text 10"/>
          <p:cNvSpPr/>
          <p:nvPr/>
        </p:nvSpPr>
        <p:spPr>
          <a:xfrm>
            <a:off x="1044565" y="4178461"/>
            <a:ext cx="5408931" cy="23870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C"/>
                </a:solidFill>
                <a:latin typeface="DM Sans" pitchFamily="34" charset="0"/>
                <a:ea typeface="DM Sans" pitchFamily="34" charset="-122"/>
                <a:cs typeface="DM Sans" pitchFamily="34" charset="-120"/>
              </a:rPr>
              <a:t>Fix: selected Loopback: lo for localhost traffic</a:t>
            </a:r>
            <a:endParaRPr lang="en-US" sz="1200" dirty="0"/>
          </a:p>
        </p:txBody>
      </p:sp>
      <p:sp>
        <p:nvSpPr>
          <p:cNvPr id="13" name="Shape 11"/>
          <p:cNvSpPr/>
          <p:nvPr/>
        </p:nvSpPr>
        <p:spPr>
          <a:xfrm>
            <a:off x="6734125" y="1511808"/>
            <a:ext cx="4641941" cy="3108588"/>
          </a:xfrm>
          <a:prstGeom prst="roundRect">
            <a:avLst>
              <a:gd name="adj" fmla="val 3166"/>
            </a:avLst>
          </a:prstGeom>
          <a:solidFill>
            <a:srgbClr val="16233A"/>
          </a:solidFill>
          <a:ln w="6350">
            <a:solidFill>
              <a:srgbClr val="24344F"/>
            </a:solidFill>
            <a:prstDash val="solid"/>
          </a:ln>
        </p:spPr>
      </p:sp>
      <p:sp>
        <p:nvSpPr>
          <p:cNvPr id="14" name="Text 12"/>
          <p:cNvSpPr/>
          <p:nvPr/>
        </p:nvSpPr>
        <p:spPr>
          <a:xfrm>
            <a:off x="6962755" y="1740440"/>
            <a:ext cx="4310221"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D4BF"/>
                </a:solidFill>
                <a:latin typeface="DM Sans" pitchFamily="34" charset="0"/>
                <a:ea typeface="DM Sans" pitchFamily="34" charset="-122"/>
                <a:cs typeface="DM Sans" pitchFamily="34" charset="-120"/>
              </a:rPr>
              <a:t>Learning outcomes</a:t>
            </a:r>
            <a:endParaRPr lang="en-US" sz="1600" dirty="0"/>
          </a:p>
        </p:txBody>
      </p:sp>
      <p:sp>
        <p:nvSpPr>
          <p:cNvPr id="15" name="Text 13"/>
          <p:cNvSpPr/>
          <p:nvPr/>
        </p:nvSpPr>
        <p:spPr>
          <a:xfrm>
            <a:off x="7047337" y="2111226"/>
            <a:ext cx="4218019" cy="1358849"/>
          </a:xfrm>
          <a:prstGeom prst="rect">
            <a:avLst/>
          </a:prstGeom>
          <a:noFill/>
          <a:ln/>
        </p:spPr>
        <p:txBody>
          <a:bodyPr wrap="square" lIns="0" tIns="0" rIns="0" bIns="0" rtlCol="0" anchor="t">
            <a:normAutofit/>
          </a:bodyPr>
          <a:lstStyle/>
          <a:p>
            <a:pPr algn="l" marL="169418" indent="-169418">
              <a:lnSpc>
                <a:spcPts val="2100"/>
              </a:lnSpc>
              <a:buSzPct val="100000"/>
              <a:buChar char="•"/>
            </a:pPr>
            <a:r>
              <a:rPr lang="en-US" sz="1400" dirty="0">
                <a:solidFill>
                  <a:srgbClr val="D5DEEA"/>
                </a:solidFill>
                <a:latin typeface="DM Sans" pitchFamily="34" charset="0"/>
                <a:ea typeface="DM Sans" pitchFamily="34" charset="-122"/>
                <a:cs typeface="DM Sans" pitchFamily="34" charset="-120"/>
              </a:rPr>
              <a:t>HTTP vs HTTPS at packet level</a:t>
            </a:r>
            <a:endParaRPr lang="en-US" sz="1400" dirty="0"/>
          </a:p>
          <a:p>
            <a:pPr algn="l" marL="169418" indent="-169418">
              <a:lnSpc>
                <a:spcPts val="2100"/>
              </a:lnSpc>
              <a:buSzPct val="100000"/>
              <a:buChar char="•"/>
            </a:pPr>
            <a:r>
              <a:rPr lang="en-US" sz="1400" dirty="0">
                <a:solidFill>
                  <a:srgbClr val="D5DEEA"/>
                </a:solidFill>
                <a:latin typeface="DM Sans" pitchFamily="34" charset="0"/>
                <a:ea typeface="DM Sans" pitchFamily="34" charset="-122"/>
                <a:cs typeface="DM Sans" pitchFamily="34" charset="-120"/>
              </a:rPr>
              <a:t>Apache mod_ssl setup on XAMPP</a:t>
            </a:r>
            <a:endParaRPr lang="en-US" sz="1400" dirty="0"/>
          </a:p>
          <a:p>
            <a:pPr algn="l" marL="169418" indent="-169418">
              <a:lnSpc>
                <a:spcPts val="2100"/>
              </a:lnSpc>
              <a:buSzPct val="100000"/>
              <a:buChar char="•"/>
            </a:pPr>
            <a:r>
              <a:rPr lang="en-US" sz="1400" dirty="0">
                <a:solidFill>
                  <a:srgbClr val="D5DEEA"/>
                </a:solidFill>
                <a:latin typeface="DM Sans" pitchFamily="34" charset="0"/>
                <a:ea typeface="DM Sans" pitchFamily="34" charset="-122"/>
                <a:cs typeface="DM Sans" pitchFamily="34" charset="-120"/>
              </a:rPr>
              <a:t>Wireshark capture and filtering</a:t>
            </a:r>
            <a:endParaRPr lang="en-US" sz="1400" dirty="0"/>
          </a:p>
          <a:p>
            <a:pPr algn="l" marL="169418" indent="-169418">
              <a:lnSpc>
                <a:spcPts val="2100"/>
              </a:lnSpc>
              <a:buSzPct val="100000"/>
              <a:buChar char="•"/>
            </a:pPr>
            <a:r>
              <a:rPr lang="en-US" sz="1400" dirty="0">
                <a:solidFill>
                  <a:srgbClr val="D5DEEA"/>
                </a:solidFill>
                <a:latin typeface="DM Sans" pitchFamily="34" charset="0"/>
                <a:ea typeface="DM Sans" pitchFamily="34" charset="-122"/>
                <a:cs typeface="DM Sans" pitchFamily="34" charset="-120"/>
              </a:rPr>
              <a:t>Back up, validate, then restart</a:t>
            </a:r>
            <a:endParaRPr lang="en-US" sz="1400" dirty="0"/>
          </a:p>
          <a:p>
            <a:pPr algn="l" marL="169418" indent="-169418">
              <a:lnSpc>
                <a:spcPts val="2100"/>
              </a:lnSpc>
              <a:buSzPct val="100000"/>
              <a:buChar char="•"/>
            </a:pPr>
            <a:r>
              <a:rPr lang="en-US" sz="1400" dirty="0">
                <a:solidFill>
                  <a:srgbClr val="D5DEEA"/>
                </a:solidFill>
                <a:latin typeface="DM Sans" pitchFamily="34" charset="0"/>
                <a:ea typeface="DM Sans" pitchFamily="34" charset="-122"/>
                <a:cs typeface="DM Sans" pitchFamily="34" charset="-120"/>
              </a:rPr>
              <a:t>Evidence-based security reports</a:t>
            </a:r>
            <a:endParaRPr lang="en-US" sz="1400" dirty="0"/>
          </a:p>
        </p:txBody>
      </p:sp>
      <p:sp>
        <p:nvSpPr>
          <p:cNvPr id="16" name="Text 14"/>
          <p:cNvSpPr/>
          <p:nvPr/>
        </p:nvSpPr>
        <p:spPr>
          <a:xfrm>
            <a:off x="812760" y="6238317"/>
            <a:ext cx="7194550" cy="23870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C"/>
                </a:solidFill>
                <a:latin typeface="DM Sans" pitchFamily="34" charset="0"/>
                <a:ea typeface="DM Sans" pitchFamily="34" charset="-122"/>
                <a:cs typeface="DM Sans" pitchFamily="34" charset="-120"/>
              </a:rPr>
              <a:t>HTTP vs HTTPS Password Capture · Cyber Security Internship</a:t>
            </a:r>
            <a:endParaRPr lang="en-US" sz="1200" dirty="0"/>
          </a:p>
        </p:txBody>
      </p:sp>
      <p:sp>
        <p:nvSpPr>
          <p:cNvPr id="17" name="Text 15"/>
          <p:cNvSpPr/>
          <p:nvPr/>
        </p:nvSpPr>
        <p:spPr>
          <a:xfrm>
            <a:off x="9417090" y="6238317"/>
            <a:ext cx="1962150" cy="23870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8CC"/>
                </a:solidFill>
                <a:latin typeface="DM Sans" pitchFamily="34" charset="0"/>
                <a:ea typeface="DM Sans" pitchFamily="34" charset="-122"/>
                <a:cs typeface="DM Sans" pitchFamily="34" charset="-120"/>
              </a:rPr>
              <a:t>09 / 10</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type="title"/>
          </p:nvPr>
        </p:nvSpPr>
        <p:spPr>
          <a:xfrm>
            <a:off x="812760" y="812763"/>
            <a:ext cx="10883476" cy="492701"/>
          </a:xfrm>
          <a:prstGeom prst="rect">
            <a:avLst/>
          </a:prstGeom>
          <a:noFill/>
          <a:ln/>
        </p:spPr>
        <p:txBody>
          <a:bodyPr wrap="square" lIns="0" tIns="0" rIns="0" bIns="0" rtlCol="0" anchor="t">
            <a:normAutofit/>
          </a:bodyPr>
          <a:lstStyle/>
          <a:p>
            <a:pPr algn="l" indent="0" marL="0">
              <a:lnSpc>
                <a:spcPts val="3680"/>
              </a:lnSpc>
              <a:buNone/>
            </a:pPr>
            <a:r>
              <a:rPr lang="en-US" sz="3200" b="1" i="0" dirty="0">
                <a:solidFill>
                  <a:srgbClr val="F3F5F7"/>
                </a:solidFill>
                <a:latin typeface="DM Sans" pitchFamily="34" charset="0"/>
                <a:ea typeface="DM Sans" pitchFamily="34" charset="-122"/>
                <a:cs typeface="DM Sans" pitchFamily="34" charset="-120"/>
              </a:rPr>
              <a:t>Conclusion and Future Work</a:t>
            </a:r>
            <a:endParaRPr lang="en-US" sz="3200" dirty="0"/>
          </a:p>
        </p:txBody>
      </p:sp>
      <p:sp>
        <p:nvSpPr>
          <p:cNvPr id="3" name="Shape 1"/>
          <p:cNvSpPr/>
          <p:nvPr/>
        </p:nvSpPr>
        <p:spPr>
          <a:xfrm>
            <a:off x="819110" y="1514983"/>
            <a:ext cx="5175391" cy="1827435"/>
          </a:xfrm>
          <a:prstGeom prst="roundRect">
            <a:avLst>
              <a:gd name="adj" fmla="val 5212"/>
            </a:avLst>
          </a:prstGeom>
          <a:solidFill>
            <a:srgbClr val="16233A"/>
          </a:solidFill>
          <a:ln w="12700">
            <a:solidFill>
              <a:srgbClr val="2DD4BF"/>
            </a:solidFill>
            <a:prstDash val="solid"/>
          </a:ln>
        </p:spPr>
      </p:sp>
      <p:sp>
        <p:nvSpPr>
          <p:cNvPr id="4" name="Text 2"/>
          <p:cNvSpPr/>
          <p:nvPr/>
        </p:nvSpPr>
        <p:spPr>
          <a:xfrm>
            <a:off x="1051036" y="1746907"/>
            <a:ext cx="4852885"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2DD4BF"/>
                </a:solidFill>
                <a:latin typeface="DM Sans" pitchFamily="34" charset="0"/>
                <a:ea typeface="DM Sans" pitchFamily="34" charset="-122"/>
                <a:cs typeface="DM Sans" pitchFamily="34" charset="-120"/>
              </a:rPr>
              <a:t>Conclusion</a:t>
            </a:r>
            <a:endParaRPr lang="en-US" sz="1600" dirty="0"/>
          </a:p>
        </p:txBody>
      </p:sp>
      <p:sp>
        <p:nvSpPr>
          <p:cNvPr id="5" name="Text 3"/>
          <p:cNvSpPr/>
          <p:nvPr/>
        </p:nvSpPr>
        <p:spPr>
          <a:xfrm>
            <a:off x="1135618" y="2092263"/>
            <a:ext cx="4760683" cy="798775"/>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D5DEEA"/>
                </a:solidFill>
                <a:latin typeface="DM Sans" pitchFamily="34" charset="0"/>
                <a:ea typeface="DM Sans" pitchFamily="34" charset="-122"/>
                <a:cs typeface="DM Sans" pitchFamily="34" charset="-120"/>
              </a:rPr>
              <a:t>HTTP exposes credentials as plaintext</a:t>
            </a:r>
            <a:endParaRPr lang="en-US" sz="1400" dirty="0"/>
          </a:p>
          <a:p>
            <a:pPr algn="l" marL="169418" indent="-169418">
              <a:lnSpc>
                <a:spcPts val="2030"/>
              </a:lnSpc>
              <a:buSzPct val="100000"/>
              <a:buChar char="•"/>
            </a:pPr>
            <a:r>
              <a:rPr lang="en-US" sz="1400" dirty="0">
                <a:solidFill>
                  <a:srgbClr val="D5DEEA"/>
                </a:solidFill>
                <a:latin typeface="DM Sans" pitchFamily="34" charset="0"/>
                <a:ea typeface="DM Sans" pitchFamily="34" charset="-122"/>
                <a:cs typeface="DM Sans" pitchFamily="34" charset="-120"/>
              </a:rPr>
              <a:t>HTTPS with TLS 1.3 encrypts the same data</a:t>
            </a:r>
            <a:endParaRPr lang="en-US" sz="1400" dirty="0"/>
          </a:p>
          <a:p>
            <a:pPr algn="l" marL="169418" indent="-169418">
              <a:lnSpc>
                <a:spcPts val="2030"/>
              </a:lnSpc>
              <a:buSzPct val="100000"/>
              <a:buChar char="•"/>
            </a:pPr>
            <a:r>
              <a:rPr lang="en-US" sz="1400" dirty="0">
                <a:solidFill>
                  <a:srgbClr val="D5DEEA"/>
                </a:solidFill>
                <a:latin typeface="DM Sans" pitchFamily="34" charset="0"/>
                <a:ea typeface="DM Sans" pitchFamily="34" charset="-122"/>
                <a:cs typeface="DM Sans" pitchFamily="34" charset="-120"/>
              </a:rPr>
              <a:t>Every claim is backed by a Wireshark capture</a:t>
            </a:r>
            <a:endParaRPr lang="en-US" sz="1400" dirty="0"/>
          </a:p>
        </p:txBody>
      </p:sp>
      <p:sp>
        <p:nvSpPr>
          <p:cNvPr id="6" name="Shape 4"/>
          <p:cNvSpPr/>
          <p:nvPr/>
        </p:nvSpPr>
        <p:spPr>
          <a:xfrm>
            <a:off x="6207216" y="1511808"/>
            <a:ext cx="5168850" cy="1833785"/>
          </a:xfrm>
          <a:prstGeom prst="roundRect">
            <a:avLst>
              <a:gd name="adj" fmla="val 5367"/>
            </a:avLst>
          </a:prstGeom>
          <a:solidFill>
            <a:srgbClr val="16233A"/>
          </a:solidFill>
          <a:ln w="6350">
            <a:solidFill>
              <a:srgbClr val="24344F"/>
            </a:solidFill>
            <a:prstDash val="solid"/>
          </a:ln>
        </p:spPr>
      </p:sp>
      <p:sp>
        <p:nvSpPr>
          <p:cNvPr id="7" name="Text 5"/>
          <p:cNvSpPr/>
          <p:nvPr/>
        </p:nvSpPr>
        <p:spPr>
          <a:xfrm>
            <a:off x="6435846" y="1740440"/>
            <a:ext cx="4852936" cy="269187"/>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F5B84B"/>
                </a:solidFill>
                <a:latin typeface="DM Sans" pitchFamily="34" charset="0"/>
                <a:ea typeface="DM Sans" pitchFamily="34" charset="-122"/>
                <a:cs typeface="DM Sans" pitchFamily="34" charset="-120"/>
              </a:rPr>
              <a:t>Future work</a:t>
            </a:r>
            <a:endParaRPr lang="en-US" sz="1600" dirty="0"/>
          </a:p>
        </p:txBody>
      </p:sp>
      <p:sp>
        <p:nvSpPr>
          <p:cNvPr id="8" name="Text 6"/>
          <p:cNvSpPr/>
          <p:nvPr/>
        </p:nvSpPr>
        <p:spPr>
          <a:xfrm>
            <a:off x="6520428" y="2085795"/>
            <a:ext cx="4760734" cy="1056567"/>
          </a:xfrm>
          <a:prstGeom prst="rect">
            <a:avLst/>
          </a:prstGeom>
          <a:noFill/>
          <a:ln/>
        </p:spPr>
        <p:txBody>
          <a:bodyPr wrap="square" lIns="0" tIns="0" rIns="0" bIns="0" rtlCol="0" anchor="t">
            <a:normAutofit/>
          </a:bodyPr>
          <a:lstStyle/>
          <a:p>
            <a:pPr algn="l" marL="169418" indent="-169418">
              <a:lnSpc>
                <a:spcPts val="2030"/>
              </a:lnSpc>
              <a:buSzPct val="100000"/>
              <a:buChar char="•"/>
            </a:pPr>
            <a:r>
              <a:rPr lang="en-US" sz="1400" dirty="0">
                <a:solidFill>
                  <a:srgbClr val="D5DEEA"/>
                </a:solidFill>
                <a:latin typeface="DM Sans" pitchFamily="34" charset="0"/>
                <a:ea typeface="DM Sans" pitchFamily="34" charset="-122"/>
                <a:cs typeface="DM Sans" pitchFamily="34" charset="-120"/>
              </a:rPr>
              <a:t>HSTS and a trusted CA certificate (Let’s Encrypt)</a:t>
            </a:r>
            <a:endParaRPr lang="en-US" sz="1400" dirty="0"/>
          </a:p>
          <a:p>
            <a:pPr algn="l" marL="169418" indent="-169418">
              <a:lnSpc>
                <a:spcPts val="2030"/>
              </a:lnSpc>
              <a:buSzPct val="100000"/>
              <a:buChar char="•"/>
            </a:pPr>
            <a:r>
              <a:rPr lang="en-US" sz="1400" dirty="0">
                <a:solidFill>
                  <a:srgbClr val="D5DEEA"/>
                </a:solidFill>
                <a:latin typeface="DM Sans" pitchFamily="34" charset="0"/>
                <a:ea typeface="DM Sans" pitchFamily="34" charset="-122"/>
                <a:cs typeface="DM Sans" pitchFamily="34" charset="-120"/>
              </a:rPr>
              <a:t>MITM and downgrade simulation in an isolated lab</a:t>
            </a:r>
            <a:endParaRPr lang="en-US" sz="1400" dirty="0"/>
          </a:p>
          <a:p>
            <a:pPr algn="l" marL="169418" indent="-169418">
              <a:lnSpc>
                <a:spcPts val="2030"/>
              </a:lnSpc>
              <a:buSzPct val="100000"/>
              <a:buChar char="•"/>
            </a:pPr>
            <a:r>
              <a:rPr lang="en-US" sz="1400" dirty="0">
                <a:solidFill>
                  <a:srgbClr val="D5DEEA"/>
                </a:solidFill>
                <a:latin typeface="DM Sans" pitchFamily="34" charset="0"/>
                <a:ea typeface="DM Sans" pitchFamily="34" charset="-122"/>
                <a:cs typeface="DM Sans" pitchFamily="34" charset="-120"/>
              </a:rPr>
              <a:t>Password hashing and brute-force protection</a:t>
            </a:r>
            <a:endParaRPr lang="en-US" sz="1400" dirty="0"/>
          </a:p>
          <a:p>
            <a:pPr algn="l" marL="169418" indent="-169418">
              <a:lnSpc>
                <a:spcPts val="2030"/>
              </a:lnSpc>
              <a:buSzPct val="100000"/>
              <a:buChar char="•"/>
            </a:pPr>
            <a:r>
              <a:rPr lang="en-US" sz="1400" dirty="0">
                <a:solidFill>
                  <a:srgbClr val="D5DEEA"/>
                </a:solidFill>
                <a:latin typeface="DM Sans" pitchFamily="34" charset="0"/>
                <a:ea typeface="DM Sans" pitchFamily="34" charset="-122"/>
                <a:cs typeface="DM Sans" pitchFamily="34" charset="-120"/>
              </a:rPr>
              <a:t>pyshark script to automate the comparison</a:t>
            </a:r>
            <a:endParaRPr lang="en-US" sz="1400" dirty="0"/>
          </a:p>
        </p:txBody>
      </p:sp>
      <p:sp>
        <p:nvSpPr>
          <p:cNvPr id="9" name="Text 7"/>
          <p:cNvSpPr/>
          <p:nvPr/>
        </p:nvSpPr>
        <p:spPr>
          <a:xfrm>
            <a:off x="812760" y="3577338"/>
            <a:ext cx="10883476" cy="416511"/>
          </a:xfrm>
          <a:prstGeom prst="rect">
            <a:avLst/>
          </a:prstGeom>
          <a:noFill/>
          <a:ln/>
        </p:spPr>
        <p:txBody>
          <a:bodyPr wrap="square" lIns="0" tIns="0" rIns="0" bIns="0" rtlCol="0" anchor="t">
            <a:normAutofit/>
          </a:bodyPr>
          <a:lstStyle/>
          <a:p>
            <a:pPr algn="l" indent="0" marL="0">
              <a:lnSpc>
                <a:spcPts val="3080"/>
              </a:lnSpc>
              <a:buNone/>
            </a:pPr>
            <a:r>
              <a:rPr lang="en-US" sz="2200" b="1" dirty="0">
                <a:solidFill>
                  <a:srgbClr val="2DD4BF"/>
                </a:solidFill>
                <a:latin typeface="DM Sans" pitchFamily="34" charset="0"/>
                <a:ea typeface="DM Sans" pitchFamily="34" charset="-122"/>
                <a:cs typeface="DM Sans" pitchFamily="34" charset="-120"/>
              </a:rPr>
              <a:t>Thank you. Questions?</a:t>
            </a:r>
            <a:endParaRPr lang="en-US" sz="2200" dirty="0"/>
          </a:p>
        </p:txBody>
      </p:sp>
      <p:sp>
        <p:nvSpPr>
          <p:cNvPr id="10" name="Text 8"/>
          <p:cNvSpPr/>
          <p:nvPr/>
        </p:nvSpPr>
        <p:spPr>
          <a:xfrm>
            <a:off x="812760" y="6238317"/>
            <a:ext cx="7194550" cy="23870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9B8CC"/>
                </a:solidFill>
                <a:latin typeface="DM Sans" pitchFamily="34" charset="0"/>
                <a:ea typeface="DM Sans" pitchFamily="34" charset="-122"/>
                <a:cs typeface="DM Sans" pitchFamily="34" charset="-120"/>
              </a:rPr>
              <a:t>HTTP vs HTTPS Password Capture · Cyber Security Internship</a:t>
            </a:r>
            <a:endParaRPr lang="en-US" sz="1200" dirty="0"/>
          </a:p>
        </p:txBody>
      </p:sp>
      <p:sp>
        <p:nvSpPr>
          <p:cNvPr id="11" name="Text 9"/>
          <p:cNvSpPr/>
          <p:nvPr/>
        </p:nvSpPr>
        <p:spPr>
          <a:xfrm>
            <a:off x="9417090" y="6238317"/>
            <a:ext cx="1962150" cy="238701"/>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A9B8CC"/>
                </a:solidFill>
                <a:latin typeface="DM Sans" pitchFamily="34" charset="0"/>
                <a:ea typeface="DM Sans" pitchFamily="34" charset="-122"/>
                <a:cs typeface="DM Sans" pitchFamily="34" charset="-120"/>
              </a:rPr>
              <a:t>10 / 10</a:t>
            </a:r>
            <a:endParaRPr lang="en-US" sz="1200" dirty="0"/>
          </a:p>
        </p:txBody>
      </p:sp>
    </p:spTree>
  </p:cSld>
  <p:clrMapOvr>
    <a:masterClrMapping/>
  </p:clrMapOvr>
</p:sld>
</file>

<file path=ppt/theme/theme1.xml><?xml version="1.0" encoding="utf-8"?>
<a:theme xmlns:a="http://schemas.openxmlformats.org/drawingml/2006/main" name="HTTP vs HTTPS Password Capture">
  <a:themeElements>
    <a:clrScheme name="HTTP vs HTTPS Password Capture">
      <a:dk1>
        <a:srgbClr val="0E1726"/>
      </a:dk1>
      <a:lt1>
        <a:srgbClr val="F3F5F7"/>
      </a:lt1>
      <a:dk2>
        <a:srgbClr val="252D3B"/>
      </a:dk2>
      <a:lt2>
        <a:srgbClr val="BABEC3"/>
      </a:lt2>
      <a:accent1>
        <a:srgbClr val="2DD4BF"/>
      </a:accent1>
      <a:accent2>
        <a:srgbClr val="F5B84B"/>
      </a:accent2>
      <a:accent3>
        <a:srgbClr val="B45309"/>
      </a:accent3>
      <a:accent4>
        <a:srgbClr val="5EEAD4"/>
      </a:accent4>
      <a:accent5>
        <a:srgbClr val="0F766E"/>
      </a:accent5>
      <a:accent6>
        <a:srgbClr val="173553"/>
      </a:accent6>
      <a:hlink>
        <a:srgbClr val="0563C1"/>
      </a:hlink>
      <a:folHlink>
        <a:srgbClr val="954F72"/>
      </a:folHlink>
    </a:clrScheme>
    <a:fontScheme name="HTTP vs HTTPS Password Capture">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 vs HTTPS Password Capture</dc:title>
  <dc:subject/>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dc:creator/>
  <cp:lastModifiedBy/>
  <cp:revision>1</cp:revision>
  <dcterms:created xsi:type="dcterms:W3CDTF">2026-10-21T09:47:11Z</dcterms:created>
  <dcterms:modified xsi:type="dcterms:W3CDTF">2026-10-21T09:47:11Z</dcterms:modified>
</cp:coreProperties>
</file>